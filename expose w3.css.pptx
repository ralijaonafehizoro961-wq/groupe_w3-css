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98" r:id="rId7"/>
    <p:sldId id="263" r:id="rId8"/>
    <p:sldId id="264" r:id="rId9"/>
    <p:sldId id="265" r:id="rId10"/>
    <p:sldId id="271" r:id="rId11"/>
    <p:sldId id="273" r:id="rId12"/>
    <p:sldId id="275" r:id="rId13"/>
  </p:sldIdLst>
  <p:sldSz cx="9144000" cy="5143500" type="screen16x9"/>
  <p:notesSz cx="6858000" cy="9144000"/>
  <p:embeddedFontLst>
    <p:embeddedFont>
      <p:font typeface="Montserrat" panose="020B0604020202020204" charset="0"/>
      <p:regular r:id="rId15"/>
      <p:bold r:id="rId16"/>
      <p:italic r:id="rId17"/>
      <p:boldItalic r:id="rId18"/>
    </p:embeddedFont>
    <p:embeddedFont>
      <p:font typeface="Montserrat Medium" panose="020B0604020202020204" charset="0"/>
      <p:regular r:id="rId19"/>
      <p:bold r:id="rId20"/>
      <p:italic r:id="rId21"/>
      <p:boldItalic r:id="rId22"/>
    </p:embeddedFont>
    <p:embeddedFont>
      <p:font typeface="Jost" panose="020B0604020202020204" charset="0"/>
      <p:regular r:id="rId23"/>
      <p:bold r:id="rId24"/>
      <p:italic r:id="rId25"/>
      <p:boldItalic r:id="rId26"/>
    </p:embeddedFont>
    <p:embeddedFont>
      <p:font typeface="Montserrat Black" panose="020B0604020202020204" charset="0"/>
      <p:bold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5C6FE0-13FE-4188-9454-C969D159312A}">
  <a:tblStyle styleId="{675C6FE0-13FE-4188-9454-C969D15931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6" y="-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97388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1f682941b8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1f682941b8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69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240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1f3b086d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1f3b086d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275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1efcb08b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1efcb08b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645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f3b086d1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f3b086d1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1485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55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11efcb08b7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11efcb08b7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5518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1efcb08b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11efcb08b7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755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11efcb08b7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11efcb08b7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9285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1efcb08b7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1efcb08b7f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0337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11efcb08b7f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11efcb08b7f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7958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11efcb08b7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11efcb08b7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2628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743325" y="1454185"/>
            <a:ext cx="6952800" cy="1339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flipH="1">
            <a:off x="3452019" y="-348332"/>
            <a:ext cx="1019565" cy="1290805"/>
            <a:chOff x="-4017975" y="-49702"/>
            <a:chExt cx="1162825" cy="1472177"/>
          </a:xfrm>
        </p:grpSpPr>
        <p:sp>
          <p:nvSpPr>
            <p:cNvPr id="12" name="Google Shape;12;p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 flipH="1">
            <a:off x="8425338" y="2120543"/>
            <a:ext cx="1938846" cy="1720830"/>
            <a:chOff x="-1873362" y="2120543"/>
            <a:chExt cx="1938846" cy="1720830"/>
          </a:xfrm>
        </p:grpSpPr>
        <p:sp>
          <p:nvSpPr>
            <p:cNvPr id="20" name="Google Shape;2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 flipH="1">
            <a:off x="-1155987" y="-912707"/>
            <a:ext cx="1938846" cy="1720830"/>
            <a:chOff x="-1873362" y="2120543"/>
            <a:chExt cx="1938846" cy="1720830"/>
          </a:xfrm>
        </p:grpSpPr>
        <p:sp>
          <p:nvSpPr>
            <p:cNvPr id="40" name="Google Shape;4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2"/>
          <p:cNvGrpSpPr/>
          <p:nvPr/>
        </p:nvGrpSpPr>
        <p:grpSpPr>
          <a:xfrm flipH="1">
            <a:off x="6857372" y="-188512"/>
            <a:ext cx="1516025" cy="1489525"/>
            <a:chOff x="-3888525" y="-3012325"/>
            <a:chExt cx="1516025" cy="1489525"/>
          </a:xfrm>
        </p:grpSpPr>
        <p:sp>
          <p:nvSpPr>
            <p:cNvPr id="60" name="Google Shape;60;p2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6"/>
          <p:cNvGrpSpPr/>
          <p:nvPr/>
        </p:nvGrpSpPr>
        <p:grpSpPr>
          <a:xfrm>
            <a:off x="8361160" y="-152294"/>
            <a:ext cx="1040638" cy="1353907"/>
            <a:chOff x="8361160" y="-152294"/>
            <a:chExt cx="1040638" cy="1353907"/>
          </a:xfrm>
        </p:grpSpPr>
        <p:grpSp>
          <p:nvGrpSpPr>
            <p:cNvPr id="209" name="Google Shape;209;p6"/>
            <p:cNvGrpSpPr/>
            <p:nvPr/>
          </p:nvGrpSpPr>
          <p:grpSpPr>
            <a:xfrm flipH="1">
              <a:off x="8361160" y="300238"/>
              <a:ext cx="1040638" cy="901375"/>
              <a:chOff x="948060" y="3972813"/>
              <a:chExt cx="1040638" cy="901375"/>
            </a:xfrm>
          </p:grpSpPr>
          <p:grpSp>
            <p:nvGrpSpPr>
              <p:cNvPr id="210" name="Google Shape;210;p6"/>
              <p:cNvGrpSpPr/>
              <p:nvPr/>
            </p:nvGrpSpPr>
            <p:grpSpPr>
              <a:xfrm flipH="1">
                <a:off x="948060" y="3972813"/>
                <a:ext cx="716725" cy="901375"/>
                <a:chOff x="-3888525" y="-2483300"/>
                <a:chExt cx="716725" cy="901375"/>
              </a:xfrm>
            </p:grpSpPr>
            <p:sp>
              <p:nvSpPr>
                <p:cNvPr id="211" name="Google Shape;211;p6"/>
                <p:cNvSpPr/>
                <p:nvPr/>
              </p:nvSpPr>
              <p:spPr>
                <a:xfrm>
                  <a:off x="-3719475" y="-2483300"/>
                  <a:ext cx="547675" cy="54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" h="21882" extrusionOk="0">
                      <a:moveTo>
                        <a:pt x="21756" y="1"/>
                      </a:moveTo>
                      <a:cubicBezTo>
                        <a:pt x="21723" y="1"/>
                        <a:pt x="21689" y="15"/>
                        <a:pt x="21661" y="43"/>
                      </a:cubicBezTo>
                      <a:lnTo>
                        <a:pt x="56" y="21647"/>
                      </a:lnTo>
                      <a:cubicBezTo>
                        <a:pt x="1" y="21703"/>
                        <a:pt x="1" y="21781"/>
                        <a:pt x="56" y="21837"/>
                      </a:cubicBezTo>
                      <a:cubicBezTo>
                        <a:pt x="79" y="21870"/>
                        <a:pt x="112" y="21882"/>
                        <a:pt x="157" y="21882"/>
                      </a:cubicBezTo>
                      <a:cubicBezTo>
                        <a:pt x="190" y="21882"/>
                        <a:pt x="224" y="21870"/>
                        <a:pt x="257" y="21837"/>
                      </a:cubicBezTo>
                      <a:lnTo>
                        <a:pt x="21851" y="243"/>
                      </a:lnTo>
                      <a:cubicBezTo>
                        <a:pt x="21907" y="188"/>
                        <a:pt x="21907" y="98"/>
                        <a:pt x="21851" y="43"/>
                      </a:cubicBezTo>
                      <a:cubicBezTo>
                        <a:pt x="21823" y="15"/>
                        <a:pt x="21790" y="1"/>
                        <a:pt x="217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6"/>
                <p:cNvSpPr/>
                <p:nvPr/>
              </p:nvSpPr>
              <p:spPr>
                <a:xfrm>
                  <a:off x="-3888525" y="-2128825"/>
                  <a:ext cx="549275" cy="54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71" h="21876" extrusionOk="0">
                      <a:moveTo>
                        <a:pt x="21780" y="1"/>
                      </a:moveTo>
                      <a:cubicBezTo>
                        <a:pt x="21751" y="1"/>
                        <a:pt x="21721" y="11"/>
                        <a:pt x="21694" y="36"/>
                      </a:cubicBezTo>
                      <a:lnTo>
                        <a:pt x="89" y="21630"/>
                      </a:lnTo>
                      <a:cubicBezTo>
                        <a:pt x="0" y="21719"/>
                        <a:pt x="67" y="21864"/>
                        <a:pt x="190" y="21875"/>
                      </a:cubicBezTo>
                      <a:cubicBezTo>
                        <a:pt x="223" y="21864"/>
                        <a:pt x="268" y="21853"/>
                        <a:pt x="290" y="21830"/>
                      </a:cubicBezTo>
                      <a:lnTo>
                        <a:pt x="21884" y="226"/>
                      </a:lnTo>
                      <a:cubicBezTo>
                        <a:pt x="21971" y="130"/>
                        <a:pt x="21882" y="1"/>
                        <a:pt x="217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" name="Google Shape;213;p6"/>
              <p:cNvGrpSpPr/>
              <p:nvPr/>
            </p:nvGrpSpPr>
            <p:grpSpPr>
              <a:xfrm flipH="1">
                <a:off x="1664772" y="4493938"/>
                <a:ext cx="323925" cy="323650"/>
                <a:chOff x="1608625" y="299800"/>
                <a:chExt cx="323925" cy="323650"/>
              </a:xfrm>
            </p:grpSpPr>
            <p:sp>
              <p:nvSpPr>
                <p:cNvPr id="214" name="Google Shape;214;p6"/>
                <p:cNvSpPr/>
                <p:nvPr/>
              </p:nvSpPr>
              <p:spPr>
                <a:xfrm>
                  <a:off x="1633450" y="324425"/>
                  <a:ext cx="275900" cy="27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6" h="10968" extrusionOk="0">
                      <a:moveTo>
                        <a:pt x="10830" y="0"/>
                      </a:moveTo>
                      <a:cubicBezTo>
                        <a:pt x="10795" y="0"/>
                        <a:pt x="10758" y="16"/>
                        <a:pt x="10725" y="54"/>
                      </a:cubicBezTo>
                      <a:lnTo>
                        <a:pt x="46" y="10733"/>
                      </a:lnTo>
                      <a:cubicBezTo>
                        <a:pt x="1" y="10789"/>
                        <a:pt x="1" y="10867"/>
                        <a:pt x="46" y="10923"/>
                      </a:cubicBezTo>
                      <a:cubicBezTo>
                        <a:pt x="79" y="10956"/>
                        <a:pt x="112" y="10968"/>
                        <a:pt x="146" y="10968"/>
                      </a:cubicBezTo>
                      <a:cubicBezTo>
                        <a:pt x="191" y="10968"/>
                        <a:pt x="224" y="10956"/>
                        <a:pt x="246" y="10923"/>
                      </a:cubicBezTo>
                      <a:lnTo>
                        <a:pt x="10926" y="254"/>
                      </a:lnTo>
                      <a:cubicBezTo>
                        <a:pt x="11036" y="153"/>
                        <a:pt x="10941" y="0"/>
                        <a:pt x="10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6"/>
                <p:cNvSpPr/>
                <p:nvPr/>
              </p:nvSpPr>
              <p:spPr>
                <a:xfrm>
                  <a:off x="1875625" y="299800"/>
                  <a:ext cx="56925" cy="5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7" h="2278" extrusionOk="0">
                      <a:moveTo>
                        <a:pt x="1139" y="1"/>
                      </a:moveTo>
                      <a:cubicBezTo>
                        <a:pt x="514" y="1"/>
                        <a:pt x="0" y="514"/>
                        <a:pt x="0" y="1139"/>
                      </a:cubicBezTo>
                      <a:cubicBezTo>
                        <a:pt x="0" y="1764"/>
                        <a:pt x="514" y="2277"/>
                        <a:pt x="1139" y="2277"/>
                      </a:cubicBezTo>
                      <a:cubicBezTo>
                        <a:pt x="1764" y="2277"/>
                        <a:pt x="2277" y="1764"/>
                        <a:pt x="2277" y="1139"/>
                      </a:cubicBezTo>
                      <a:cubicBezTo>
                        <a:pt x="2277" y="514"/>
                        <a:pt x="1764" y="1"/>
                        <a:pt x="113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6"/>
                <p:cNvSpPr/>
                <p:nvPr/>
              </p:nvSpPr>
              <p:spPr>
                <a:xfrm>
                  <a:off x="1608625" y="566800"/>
                  <a:ext cx="56950" cy="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2266" extrusionOk="0">
                      <a:moveTo>
                        <a:pt x="1139" y="0"/>
                      </a:moveTo>
                      <a:cubicBezTo>
                        <a:pt x="514" y="0"/>
                        <a:pt x="1" y="503"/>
                        <a:pt x="1" y="1127"/>
                      </a:cubicBezTo>
                      <a:cubicBezTo>
                        <a:pt x="1" y="1764"/>
                        <a:pt x="514" y="2266"/>
                        <a:pt x="1139" y="2266"/>
                      </a:cubicBezTo>
                      <a:cubicBezTo>
                        <a:pt x="1775" y="2266"/>
                        <a:pt x="2277" y="1764"/>
                        <a:pt x="2277" y="1127"/>
                      </a:cubicBezTo>
                      <a:cubicBezTo>
                        <a:pt x="2277" y="503"/>
                        <a:pt x="1775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7" name="Google Shape;217;p6"/>
            <p:cNvGrpSpPr/>
            <p:nvPr/>
          </p:nvGrpSpPr>
          <p:grpSpPr>
            <a:xfrm rot="10800000">
              <a:off x="8442919" y="-152294"/>
              <a:ext cx="777174" cy="1001897"/>
              <a:chOff x="-4604150" y="-305525"/>
              <a:chExt cx="886375" cy="1142675"/>
            </a:xfrm>
          </p:grpSpPr>
          <p:sp>
            <p:nvSpPr>
              <p:cNvPr id="218" name="Google Shape;218;p6"/>
              <p:cNvSpPr/>
              <p:nvPr/>
            </p:nvSpPr>
            <p:spPr>
              <a:xfrm>
                <a:off x="-4604150" y="-280425"/>
                <a:ext cx="858750" cy="1117575"/>
              </a:xfrm>
              <a:custGeom>
                <a:avLst/>
                <a:gdLst/>
                <a:ahLst/>
                <a:cxnLst/>
                <a:rect l="l" t="t" r="r" b="b"/>
                <a:pathLst>
                  <a:path w="34350" h="44703" extrusionOk="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-3780300" y="-305525"/>
                <a:ext cx="62525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2280" extrusionOk="0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-4199050" y="281125"/>
                <a:ext cx="155150" cy="154850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6194" extrusionOk="0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1" name="Google Shape;221;p6"/>
          <p:cNvGrpSpPr/>
          <p:nvPr/>
        </p:nvGrpSpPr>
        <p:grpSpPr>
          <a:xfrm>
            <a:off x="778838" y="379263"/>
            <a:ext cx="184175" cy="158025"/>
            <a:chOff x="-3626300" y="-1680825"/>
            <a:chExt cx="184175" cy="158025"/>
          </a:xfrm>
        </p:grpSpPr>
        <p:sp>
          <p:nvSpPr>
            <p:cNvPr id="222" name="Google Shape;222;p6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6"/>
          <p:cNvGrpSpPr/>
          <p:nvPr/>
        </p:nvGrpSpPr>
        <p:grpSpPr>
          <a:xfrm>
            <a:off x="-252062" y="300238"/>
            <a:ext cx="716725" cy="901375"/>
            <a:chOff x="-3888525" y="-2483300"/>
            <a:chExt cx="716725" cy="901375"/>
          </a:xfrm>
        </p:grpSpPr>
        <p:sp>
          <p:nvSpPr>
            <p:cNvPr id="225" name="Google Shape;225;p6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"/>
          <p:cNvSpPr txBox="1">
            <a:spLocks noGrp="1"/>
          </p:cNvSpPr>
          <p:nvPr>
            <p:ph type="title"/>
          </p:nvPr>
        </p:nvSpPr>
        <p:spPr>
          <a:xfrm>
            <a:off x="782850" y="101362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7" name="Google Shape;327;p9"/>
          <p:cNvSpPr txBox="1">
            <a:spLocks noGrp="1"/>
          </p:cNvSpPr>
          <p:nvPr>
            <p:ph type="subTitle" idx="1"/>
          </p:nvPr>
        </p:nvSpPr>
        <p:spPr>
          <a:xfrm>
            <a:off x="782850" y="282487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28" name="Google Shape;328;p9"/>
          <p:cNvGrpSpPr/>
          <p:nvPr/>
        </p:nvGrpSpPr>
        <p:grpSpPr>
          <a:xfrm>
            <a:off x="8457538" y="810363"/>
            <a:ext cx="1040638" cy="901375"/>
            <a:chOff x="8457538" y="810363"/>
            <a:chExt cx="1040638" cy="901375"/>
          </a:xfrm>
        </p:grpSpPr>
        <p:grpSp>
          <p:nvGrpSpPr>
            <p:cNvPr id="329" name="Google Shape;329;p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330" name="Google Shape;330;p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2" name="Google Shape;332;p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333" name="Google Shape;333;p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1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3" name="Google Shape;423;p13"/>
          <p:cNvSpPr txBox="1">
            <a:spLocks noGrp="1"/>
          </p:cNvSpPr>
          <p:nvPr>
            <p:ph type="subTitle" idx="1"/>
          </p:nvPr>
        </p:nvSpPr>
        <p:spPr>
          <a:xfrm>
            <a:off x="1033550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4" name="Google Shape;424;p13"/>
          <p:cNvSpPr txBox="1">
            <a:spLocks noGrp="1"/>
          </p:cNvSpPr>
          <p:nvPr>
            <p:ph type="subTitle" idx="3"/>
          </p:nvPr>
        </p:nvSpPr>
        <p:spPr>
          <a:xfrm>
            <a:off x="1033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13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1033525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6" name="Google Shape;426;p13"/>
          <p:cNvSpPr txBox="1">
            <a:spLocks noGrp="1"/>
          </p:cNvSpPr>
          <p:nvPr>
            <p:ph type="subTitle" idx="5"/>
          </p:nvPr>
        </p:nvSpPr>
        <p:spPr>
          <a:xfrm>
            <a:off x="1033550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13"/>
          <p:cNvSpPr txBox="1">
            <a:spLocks noGrp="1"/>
          </p:cNvSpPr>
          <p:nvPr>
            <p:ph type="subTitle" idx="6"/>
          </p:nvPr>
        </p:nvSpPr>
        <p:spPr>
          <a:xfrm>
            <a:off x="1033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8" name="Google Shape;428;p13"/>
          <p:cNvSpPr txBox="1">
            <a:spLocks noGrp="1"/>
          </p:cNvSpPr>
          <p:nvPr>
            <p:ph type="title" idx="7" hasCustomPrompt="1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>
            <a:spLocks noGrp="1"/>
          </p:cNvSpPr>
          <p:nvPr>
            <p:ph type="subTitle" idx="8"/>
          </p:nvPr>
        </p:nvSpPr>
        <p:spPr>
          <a:xfrm>
            <a:off x="5474325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13"/>
          <p:cNvSpPr txBox="1">
            <a:spLocks noGrp="1"/>
          </p:cNvSpPr>
          <p:nvPr>
            <p:ph type="subTitle" idx="9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13"/>
          <p:cNvSpPr txBox="1">
            <a:spLocks noGrp="1"/>
          </p:cNvSpPr>
          <p:nvPr>
            <p:ph type="title" idx="13" hasCustomPrompt="1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32" name="Google Shape;432;p13"/>
          <p:cNvSpPr txBox="1">
            <a:spLocks noGrp="1"/>
          </p:cNvSpPr>
          <p:nvPr>
            <p:ph type="subTitle" idx="14"/>
          </p:nvPr>
        </p:nvSpPr>
        <p:spPr>
          <a:xfrm>
            <a:off x="5474325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3" name="Google Shape;433;p13"/>
          <p:cNvSpPr txBox="1">
            <a:spLocks noGrp="1"/>
          </p:cNvSpPr>
          <p:nvPr>
            <p:ph type="subTitle" idx="15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34" name="Google Shape;434;p13"/>
          <p:cNvGrpSpPr/>
          <p:nvPr/>
        </p:nvGrpSpPr>
        <p:grpSpPr>
          <a:xfrm>
            <a:off x="-969899" y="3989306"/>
            <a:ext cx="1803578" cy="1558580"/>
            <a:chOff x="-969899" y="3989306"/>
            <a:chExt cx="1803578" cy="1558580"/>
          </a:xfrm>
        </p:grpSpPr>
        <p:grpSp>
          <p:nvGrpSpPr>
            <p:cNvPr id="435" name="Google Shape;435;p13"/>
            <p:cNvGrpSpPr/>
            <p:nvPr/>
          </p:nvGrpSpPr>
          <p:grpSpPr>
            <a:xfrm>
              <a:off x="-699845" y="4032775"/>
              <a:ext cx="777174" cy="1001897"/>
              <a:chOff x="-699845" y="4032775"/>
              <a:chExt cx="777174" cy="1001897"/>
            </a:xfrm>
          </p:grpSpPr>
          <p:sp>
            <p:nvSpPr>
              <p:cNvPr id="436" name="Google Shape;436;p13"/>
              <p:cNvSpPr/>
              <p:nvPr/>
            </p:nvSpPr>
            <p:spPr>
              <a:xfrm>
                <a:off x="-699845" y="4054782"/>
                <a:ext cx="752952" cy="979890"/>
              </a:xfrm>
              <a:custGeom>
                <a:avLst/>
                <a:gdLst/>
                <a:ahLst/>
                <a:cxnLst/>
                <a:rect l="l" t="t" r="r" b="b"/>
                <a:pathLst>
                  <a:path w="34350" h="44703" extrusionOk="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22507" y="4032775"/>
                <a:ext cx="54822" cy="49978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2280" extrusionOk="0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-344653" y="4547149"/>
                <a:ext cx="136036" cy="135772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6194" extrusionOk="0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9" name="Google Shape;439;p13"/>
            <p:cNvSpPr/>
            <p:nvPr/>
          </p:nvSpPr>
          <p:spPr>
            <a:xfrm>
              <a:off x="-621306" y="4385709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-2920" y="4363854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-348577" y="4011249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-138934" y="3989307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-372053" y="4223325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>
              <a:off x="-164361" y="4868277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>
              <a:off x="226779" y="4995523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474081" y="4841338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>
              <a:off x="-185887" y="5498214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>
              <a:off x="38925" y="4786012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-589259" y="4875599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-677815" y="5502489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-969899" y="4645526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289933" y="3989306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615706" y="4527246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682255" y="4585290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" name="Google Shape;455;p13"/>
          <p:cNvGrpSpPr/>
          <p:nvPr/>
        </p:nvGrpSpPr>
        <p:grpSpPr>
          <a:xfrm flipH="1">
            <a:off x="-74415" y="391900"/>
            <a:ext cx="1040638" cy="901375"/>
            <a:chOff x="948060" y="3972813"/>
            <a:chExt cx="1040638" cy="901375"/>
          </a:xfrm>
        </p:grpSpPr>
        <p:grpSp>
          <p:nvGrpSpPr>
            <p:cNvPr id="456" name="Google Shape;456;p13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457" name="Google Shape;457;p13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3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9" name="Google Shape;459;p1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460" name="Google Shape;460;p1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3" name="Google Shape;463;p13"/>
          <p:cNvGrpSpPr/>
          <p:nvPr/>
        </p:nvGrpSpPr>
        <p:grpSpPr>
          <a:xfrm>
            <a:off x="8530769" y="1433443"/>
            <a:ext cx="1019565" cy="1290805"/>
            <a:chOff x="-4017975" y="-49702"/>
            <a:chExt cx="1162825" cy="1472177"/>
          </a:xfrm>
        </p:grpSpPr>
        <p:sp>
          <p:nvSpPr>
            <p:cNvPr id="464" name="Google Shape;464;p1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5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92" name="Google Shape;492;p15"/>
          <p:cNvGrpSpPr/>
          <p:nvPr/>
        </p:nvGrpSpPr>
        <p:grpSpPr>
          <a:xfrm>
            <a:off x="8289922" y="1760200"/>
            <a:ext cx="1369850" cy="1342825"/>
            <a:chOff x="-3742350" y="-3012325"/>
            <a:chExt cx="1369850" cy="1342825"/>
          </a:xfrm>
        </p:grpSpPr>
        <p:sp>
          <p:nvSpPr>
            <p:cNvPr id="493" name="Google Shape;493;p15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-3470900" y="-26570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-3720275" y="-2216400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-2825862" y="-2936687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-2758612" y="-2892062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4" name="Google Shape;504;p15"/>
          <p:cNvGrpSpPr/>
          <p:nvPr/>
        </p:nvGrpSpPr>
        <p:grpSpPr>
          <a:xfrm>
            <a:off x="-275103" y="120400"/>
            <a:ext cx="1369850" cy="1342825"/>
            <a:chOff x="-3742350" y="-3012325"/>
            <a:chExt cx="1369850" cy="1342825"/>
          </a:xfrm>
        </p:grpSpPr>
        <p:sp>
          <p:nvSpPr>
            <p:cNvPr id="505" name="Google Shape;505;p15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-3470900" y="-26570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-3720275" y="-2216400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-2825862" y="-2936687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-2758612" y="-2892062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" name="Google Shape;516;p15"/>
          <p:cNvGrpSpPr/>
          <p:nvPr/>
        </p:nvGrpSpPr>
        <p:grpSpPr>
          <a:xfrm>
            <a:off x="7444085" y="-614062"/>
            <a:ext cx="1040637" cy="901375"/>
            <a:chOff x="7772485" y="-345137"/>
            <a:chExt cx="1040637" cy="901375"/>
          </a:xfrm>
        </p:grpSpPr>
        <p:grpSp>
          <p:nvGrpSpPr>
            <p:cNvPr id="517" name="Google Shape;517;p15"/>
            <p:cNvGrpSpPr/>
            <p:nvPr/>
          </p:nvGrpSpPr>
          <p:grpSpPr>
            <a:xfrm>
              <a:off x="8096397" y="-345137"/>
              <a:ext cx="716725" cy="901375"/>
              <a:chOff x="-3888525" y="-2483300"/>
              <a:chExt cx="716725" cy="901375"/>
            </a:xfrm>
          </p:grpSpPr>
          <p:sp>
            <p:nvSpPr>
              <p:cNvPr id="518" name="Google Shape;518;p1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0" name="Google Shape;520;p15"/>
            <p:cNvGrpSpPr/>
            <p:nvPr/>
          </p:nvGrpSpPr>
          <p:grpSpPr>
            <a:xfrm>
              <a:off x="7772485" y="175988"/>
              <a:ext cx="323925" cy="323650"/>
              <a:chOff x="1608625" y="299800"/>
              <a:chExt cx="323925" cy="323650"/>
            </a:xfrm>
          </p:grpSpPr>
          <p:sp>
            <p:nvSpPr>
              <p:cNvPr id="521" name="Google Shape;521;p1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1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1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4_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6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495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526" name="Google Shape;526;p16"/>
          <p:cNvGrpSpPr/>
          <p:nvPr/>
        </p:nvGrpSpPr>
        <p:grpSpPr>
          <a:xfrm>
            <a:off x="7771338" y="4403813"/>
            <a:ext cx="1040638" cy="901375"/>
            <a:chOff x="8457538" y="810363"/>
            <a:chExt cx="1040638" cy="901375"/>
          </a:xfrm>
        </p:grpSpPr>
        <p:grpSp>
          <p:nvGrpSpPr>
            <p:cNvPr id="527" name="Google Shape;527;p16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528" name="Google Shape;528;p16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6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0" name="Google Shape;530;p16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531" name="Google Shape;531;p16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6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6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4" name="Google Shape;534;p16"/>
          <p:cNvGrpSpPr/>
          <p:nvPr/>
        </p:nvGrpSpPr>
        <p:grpSpPr>
          <a:xfrm>
            <a:off x="7771359" y="4167517"/>
            <a:ext cx="761479" cy="750124"/>
            <a:chOff x="-642191" y="1634242"/>
            <a:chExt cx="761479" cy="750124"/>
          </a:xfrm>
        </p:grpSpPr>
        <p:sp>
          <p:nvSpPr>
            <p:cNvPr id="535" name="Google Shape;535;p16"/>
            <p:cNvSpPr/>
            <p:nvPr/>
          </p:nvSpPr>
          <p:spPr>
            <a:xfrm rot="10800000">
              <a:off x="-642191" y="235071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10800000">
              <a:off x="-553634" y="1723763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 rot="10800000">
              <a:off x="78166" y="1634242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8" name="Google Shape;538;p16"/>
          <p:cNvGrpSpPr/>
          <p:nvPr/>
        </p:nvGrpSpPr>
        <p:grpSpPr>
          <a:xfrm>
            <a:off x="330444" y="-221875"/>
            <a:ext cx="713803" cy="706547"/>
            <a:chOff x="-4017975" y="616650"/>
            <a:chExt cx="814100" cy="805825"/>
          </a:xfrm>
        </p:grpSpPr>
        <p:sp>
          <p:nvSpPr>
            <p:cNvPr id="539" name="Google Shape;539;p16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7"/>
          <p:cNvSpPr txBox="1">
            <a:spLocks noGrp="1"/>
          </p:cNvSpPr>
          <p:nvPr>
            <p:ph type="subTitle" idx="1"/>
          </p:nvPr>
        </p:nvSpPr>
        <p:spPr>
          <a:xfrm>
            <a:off x="7828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6" name="Google Shape;546;p17"/>
          <p:cNvSpPr txBox="1">
            <a:spLocks noGrp="1"/>
          </p:cNvSpPr>
          <p:nvPr>
            <p:ph type="subTitle" idx="2"/>
          </p:nvPr>
        </p:nvSpPr>
        <p:spPr>
          <a:xfrm>
            <a:off x="7828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7" name="Google Shape;547;p17"/>
          <p:cNvSpPr txBox="1">
            <a:spLocks noGrp="1"/>
          </p:cNvSpPr>
          <p:nvPr>
            <p:ph type="subTitle" idx="3"/>
          </p:nvPr>
        </p:nvSpPr>
        <p:spPr>
          <a:xfrm>
            <a:off x="341640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8" name="Google Shape;548;p17"/>
          <p:cNvSpPr txBox="1">
            <a:spLocks noGrp="1"/>
          </p:cNvSpPr>
          <p:nvPr>
            <p:ph type="subTitle" idx="4"/>
          </p:nvPr>
        </p:nvSpPr>
        <p:spPr>
          <a:xfrm>
            <a:off x="341640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9" name="Google Shape;549;p17"/>
          <p:cNvSpPr txBox="1">
            <a:spLocks noGrp="1"/>
          </p:cNvSpPr>
          <p:nvPr>
            <p:ph type="subTitle" idx="5"/>
          </p:nvPr>
        </p:nvSpPr>
        <p:spPr>
          <a:xfrm>
            <a:off x="60499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0" name="Google Shape;550;p17"/>
          <p:cNvSpPr txBox="1">
            <a:spLocks noGrp="1"/>
          </p:cNvSpPr>
          <p:nvPr>
            <p:ph type="subTitle" idx="6"/>
          </p:nvPr>
        </p:nvSpPr>
        <p:spPr>
          <a:xfrm>
            <a:off x="60499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551" name="Google Shape;551;p17"/>
          <p:cNvGrpSpPr/>
          <p:nvPr/>
        </p:nvGrpSpPr>
        <p:grpSpPr>
          <a:xfrm>
            <a:off x="-382087" y="624425"/>
            <a:ext cx="1040638" cy="901375"/>
            <a:chOff x="8457538" y="810363"/>
            <a:chExt cx="1040638" cy="901375"/>
          </a:xfrm>
        </p:grpSpPr>
        <p:grpSp>
          <p:nvGrpSpPr>
            <p:cNvPr id="552" name="Google Shape;552;p1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553" name="Google Shape;553;p1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5" name="Google Shape;555;p1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556" name="Google Shape;556;p1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9" name="Google Shape;559;p17"/>
          <p:cNvGrpSpPr/>
          <p:nvPr/>
        </p:nvGrpSpPr>
        <p:grpSpPr>
          <a:xfrm rot="10800000">
            <a:off x="8274244" y="624418"/>
            <a:ext cx="1803578" cy="1592367"/>
            <a:chOff x="-4912150" y="-393637"/>
            <a:chExt cx="2057000" cy="1816112"/>
          </a:xfrm>
        </p:grpSpPr>
        <p:sp>
          <p:nvSpPr>
            <p:cNvPr id="560" name="Google Shape;56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7"/>
          <p:cNvGrpSpPr/>
          <p:nvPr/>
        </p:nvGrpSpPr>
        <p:grpSpPr>
          <a:xfrm rot="10800000">
            <a:off x="1179219" y="4287293"/>
            <a:ext cx="1803578" cy="1592367"/>
            <a:chOff x="-4912150" y="-393637"/>
            <a:chExt cx="2057000" cy="1816112"/>
          </a:xfrm>
        </p:grpSpPr>
        <p:sp>
          <p:nvSpPr>
            <p:cNvPr id="580" name="Google Shape;58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_1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8"/>
          <p:cNvSpPr txBox="1">
            <a:spLocks noGrp="1"/>
          </p:cNvSpPr>
          <p:nvPr>
            <p:ph type="title"/>
          </p:nvPr>
        </p:nvSpPr>
        <p:spPr>
          <a:xfrm flipH="1"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18"/>
          <p:cNvSpPr txBox="1">
            <a:spLocks noGrp="1"/>
          </p:cNvSpPr>
          <p:nvPr>
            <p:ph type="subTitle" idx="1"/>
          </p:nvPr>
        </p:nvSpPr>
        <p:spPr>
          <a:xfrm>
            <a:off x="1589125" y="2349175"/>
            <a:ext cx="2541000" cy="521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2" name="Google Shape;602;p18"/>
          <p:cNvSpPr txBox="1">
            <a:spLocks noGrp="1"/>
          </p:cNvSpPr>
          <p:nvPr>
            <p:ph type="subTitle" idx="2"/>
          </p:nvPr>
        </p:nvSpPr>
        <p:spPr>
          <a:xfrm>
            <a:off x="1589125" y="2011200"/>
            <a:ext cx="25410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3" name="Google Shape;603;p18"/>
          <p:cNvSpPr txBox="1">
            <a:spLocks noGrp="1"/>
          </p:cNvSpPr>
          <p:nvPr>
            <p:ph type="subTitle" idx="3"/>
          </p:nvPr>
        </p:nvSpPr>
        <p:spPr>
          <a:xfrm>
            <a:off x="5013850" y="2351975"/>
            <a:ext cx="2541000" cy="521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4" name="Google Shape;604;p18"/>
          <p:cNvSpPr txBox="1">
            <a:spLocks noGrp="1"/>
          </p:cNvSpPr>
          <p:nvPr>
            <p:ph type="subTitle" idx="4"/>
          </p:nvPr>
        </p:nvSpPr>
        <p:spPr>
          <a:xfrm>
            <a:off x="5013850" y="2014000"/>
            <a:ext cx="25410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5" name="Google Shape;605;p18"/>
          <p:cNvSpPr txBox="1">
            <a:spLocks noGrp="1"/>
          </p:cNvSpPr>
          <p:nvPr>
            <p:ph type="subTitle" idx="5"/>
          </p:nvPr>
        </p:nvSpPr>
        <p:spPr>
          <a:xfrm>
            <a:off x="1589125" y="3960125"/>
            <a:ext cx="2541000" cy="521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6" name="Google Shape;606;p18"/>
          <p:cNvSpPr txBox="1">
            <a:spLocks noGrp="1"/>
          </p:cNvSpPr>
          <p:nvPr>
            <p:ph type="subTitle" idx="6"/>
          </p:nvPr>
        </p:nvSpPr>
        <p:spPr>
          <a:xfrm>
            <a:off x="1589125" y="3622150"/>
            <a:ext cx="25410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7" name="Google Shape;607;p18"/>
          <p:cNvSpPr txBox="1">
            <a:spLocks noGrp="1"/>
          </p:cNvSpPr>
          <p:nvPr>
            <p:ph type="subTitle" idx="7"/>
          </p:nvPr>
        </p:nvSpPr>
        <p:spPr>
          <a:xfrm>
            <a:off x="5013850" y="3960098"/>
            <a:ext cx="2541000" cy="521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8" name="Google Shape;608;p18"/>
          <p:cNvSpPr txBox="1">
            <a:spLocks noGrp="1"/>
          </p:cNvSpPr>
          <p:nvPr>
            <p:ph type="subTitle" idx="8"/>
          </p:nvPr>
        </p:nvSpPr>
        <p:spPr>
          <a:xfrm>
            <a:off x="5013850" y="3622123"/>
            <a:ext cx="25410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609" name="Google Shape;609;p18"/>
          <p:cNvGrpSpPr/>
          <p:nvPr/>
        </p:nvGrpSpPr>
        <p:grpSpPr>
          <a:xfrm flipH="1">
            <a:off x="205972" y="3517863"/>
            <a:ext cx="873188" cy="546900"/>
            <a:chOff x="1115510" y="4327288"/>
            <a:chExt cx="873188" cy="546900"/>
          </a:xfrm>
        </p:grpSpPr>
        <p:sp>
          <p:nvSpPr>
            <p:cNvPr id="610" name="Google Shape;610;p18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1" name="Google Shape;611;p1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612" name="Google Shape;612;p1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1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5" name="Google Shape;615;p18"/>
          <p:cNvGrpSpPr/>
          <p:nvPr/>
        </p:nvGrpSpPr>
        <p:grpSpPr>
          <a:xfrm>
            <a:off x="-234937" y="-460907"/>
            <a:ext cx="1938846" cy="1720830"/>
            <a:chOff x="-1873362" y="2120543"/>
            <a:chExt cx="1938846" cy="1720830"/>
          </a:xfrm>
        </p:grpSpPr>
        <p:sp>
          <p:nvSpPr>
            <p:cNvPr id="616" name="Google Shape;616;p18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8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8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18"/>
          <p:cNvGrpSpPr/>
          <p:nvPr/>
        </p:nvGrpSpPr>
        <p:grpSpPr>
          <a:xfrm>
            <a:off x="7932072" y="2686300"/>
            <a:ext cx="1929500" cy="2210100"/>
            <a:chOff x="295725" y="-3462825"/>
            <a:chExt cx="1929500" cy="2210100"/>
          </a:xfrm>
        </p:grpSpPr>
        <p:sp>
          <p:nvSpPr>
            <p:cNvPr id="636" name="Google Shape;636;p18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8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8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8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8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8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8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8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8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8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8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8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8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0"/>
          <p:cNvSpPr txBox="1">
            <a:spLocks noGrp="1"/>
          </p:cNvSpPr>
          <p:nvPr>
            <p:ph type="title" hasCustomPrompt="1"/>
          </p:nvPr>
        </p:nvSpPr>
        <p:spPr>
          <a:xfrm>
            <a:off x="1862850" y="55625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8" name="Google Shape;718;p20"/>
          <p:cNvSpPr txBox="1">
            <a:spLocks noGrp="1"/>
          </p:cNvSpPr>
          <p:nvPr>
            <p:ph type="subTitle" idx="1"/>
          </p:nvPr>
        </p:nvSpPr>
        <p:spPr>
          <a:xfrm>
            <a:off x="1862850" y="119255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9" name="Google Shape;719;p20"/>
          <p:cNvSpPr txBox="1">
            <a:spLocks noGrp="1"/>
          </p:cNvSpPr>
          <p:nvPr>
            <p:ph type="title" idx="2" hasCustomPrompt="1"/>
          </p:nvPr>
        </p:nvSpPr>
        <p:spPr>
          <a:xfrm>
            <a:off x="1862850" y="210690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0" name="Google Shape;720;p20"/>
          <p:cNvSpPr txBox="1">
            <a:spLocks noGrp="1"/>
          </p:cNvSpPr>
          <p:nvPr>
            <p:ph type="subTitle" idx="3"/>
          </p:nvPr>
        </p:nvSpPr>
        <p:spPr>
          <a:xfrm>
            <a:off x="1862850" y="274320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1" name="Google Shape;721;p20"/>
          <p:cNvSpPr txBox="1">
            <a:spLocks noGrp="1"/>
          </p:cNvSpPr>
          <p:nvPr>
            <p:ph type="title" idx="4" hasCustomPrompt="1"/>
          </p:nvPr>
        </p:nvSpPr>
        <p:spPr>
          <a:xfrm>
            <a:off x="1862850" y="365755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2" name="Google Shape;722;p20"/>
          <p:cNvSpPr txBox="1">
            <a:spLocks noGrp="1"/>
          </p:cNvSpPr>
          <p:nvPr>
            <p:ph type="subTitle" idx="5"/>
          </p:nvPr>
        </p:nvSpPr>
        <p:spPr>
          <a:xfrm>
            <a:off x="1862850" y="429385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23" name="Google Shape;723;p20"/>
          <p:cNvGrpSpPr/>
          <p:nvPr/>
        </p:nvGrpSpPr>
        <p:grpSpPr>
          <a:xfrm flipH="1">
            <a:off x="7051226" y="-890069"/>
            <a:ext cx="1938846" cy="1720830"/>
            <a:chOff x="-1873362" y="2120543"/>
            <a:chExt cx="1938846" cy="1720830"/>
          </a:xfrm>
        </p:grpSpPr>
        <p:sp>
          <p:nvSpPr>
            <p:cNvPr id="724" name="Google Shape;724;p20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0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0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0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0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0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0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0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0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0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0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0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0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0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0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3" name="Google Shape;743;p20"/>
          <p:cNvGrpSpPr/>
          <p:nvPr/>
        </p:nvGrpSpPr>
        <p:grpSpPr>
          <a:xfrm flipH="1">
            <a:off x="-693003" y="-88512"/>
            <a:ext cx="1516025" cy="1489525"/>
            <a:chOff x="-3888525" y="-3012325"/>
            <a:chExt cx="1516025" cy="1489525"/>
          </a:xfrm>
        </p:grpSpPr>
        <p:sp>
          <p:nvSpPr>
            <p:cNvPr id="744" name="Google Shape;744;p20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0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0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0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0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0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0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0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0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0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5" name="Google Shape;755;p20"/>
          <p:cNvGrpSpPr/>
          <p:nvPr/>
        </p:nvGrpSpPr>
        <p:grpSpPr>
          <a:xfrm flipH="1">
            <a:off x="8030519" y="1531768"/>
            <a:ext cx="1019565" cy="1290805"/>
            <a:chOff x="-4017975" y="-49702"/>
            <a:chExt cx="1162825" cy="1472177"/>
          </a:xfrm>
        </p:grpSpPr>
        <p:sp>
          <p:nvSpPr>
            <p:cNvPr id="756" name="Google Shape;756;p2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0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20"/>
          <p:cNvGrpSpPr/>
          <p:nvPr/>
        </p:nvGrpSpPr>
        <p:grpSpPr>
          <a:xfrm flipH="1">
            <a:off x="-3" y="3171850"/>
            <a:ext cx="1929500" cy="2210100"/>
            <a:chOff x="295725" y="-3462825"/>
            <a:chExt cx="1929500" cy="2210100"/>
          </a:xfrm>
        </p:grpSpPr>
        <p:sp>
          <p:nvSpPr>
            <p:cNvPr id="764" name="Google Shape;764;p20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0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0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0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0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0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0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0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0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0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0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0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0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0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0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0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0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0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0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0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0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6_1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1"/>
          <p:cNvSpPr txBox="1">
            <a:spLocks noGrp="1"/>
          </p:cNvSpPr>
          <p:nvPr>
            <p:ph type="body" idx="1"/>
          </p:nvPr>
        </p:nvSpPr>
        <p:spPr>
          <a:xfrm>
            <a:off x="1932150" y="1660875"/>
            <a:ext cx="5279700" cy="223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2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791" name="Google Shape;791;p21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92" name="Google Shape;792;p21"/>
          <p:cNvGrpSpPr/>
          <p:nvPr/>
        </p:nvGrpSpPr>
        <p:grpSpPr>
          <a:xfrm rot="10800000">
            <a:off x="-615206" y="2336518"/>
            <a:ext cx="1803578" cy="1592367"/>
            <a:chOff x="-4912150" y="-393637"/>
            <a:chExt cx="2057000" cy="1816112"/>
          </a:xfrm>
        </p:grpSpPr>
        <p:sp>
          <p:nvSpPr>
            <p:cNvPr id="793" name="Google Shape;793;p21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24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873" name="Google Shape;873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74" name="Google Shape;874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" name="Google Shape;876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77" name="Google Shape;877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0" name="Google Shape;880;p24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881" name="Google Shape;881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82" name="Google Shape;882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4" name="Google Shape;884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85" name="Google Shape;885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8" name="Google Shape;888;p24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889" name="Google Shape;889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24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894" name="Google Shape;894;p24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 hasCustomPrompt="1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73" name="Google Shape;73;p3"/>
          <p:cNvSpPr txBox="1">
            <a:spLocks noGrp="1"/>
          </p:cNvSpPr>
          <p:nvPr>
            <p:ph type="title" idx="2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subTitle" idx="1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grpSp>
        <p:nvGrpSpPr>
          <p:cNvPr id="75" name="Google Shape;75;p3"/>
          <p:cNvGrpSpPr/>
          <p:nvPr/>
        </p:nvGrpSpPr>
        <p:grpSpPr>
          <a:xfrm flipH="1">
            <a:off x="7451744" y="244568"/>
            <a:ext cx="1019565" cy="1290805"/>
            <a:chOff x="-4017975" y="-49702"/>
            <a:chExt cx="1162825" cy="1472177"/>
          </a:xfrm>
        </p:grpSpPr>
        <p:sp>
          <p:nvSpPr>
            <p:cNvPr id="76" name="Google Shape;76;p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3"/>
          <p:cNvGrpSpPr/>
          <p:nvPr/>
        </p:nvGrpSpPr>
        <p:grpSpPr>
          <a:xfrm flipH="1">
            <a:off x="2648022" y="-702112"/>
            <a:ext cx="1516025" cy="1489525"/>
            <a:chOff x="-3888525" y="-3012325"/>
            <a:chExt cx="1516025" cy="1489525"/>
          </a:xfrm>
        </p:grpSpPr>
        <p:sp>
          <p:nvSpPr>
            <p:cNvPr id="84" name="Google Shape;84;p3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3"/>
          <p:cNvGrpSpPr/>
          <p:nvPr/>
        </p:nvGrpSpPr>
        <p:grpSpPr>
          <a:xfrm flipH="1">
            <a:off x="579363" y="3923368"/>
            <a:ext cx="1938846" cy="1720830"/>
            <a:chOff x="-1873362" y="2120543"/>
            <a:chExt cx="1938846" cy="1720830"/>
          </a:xfrm>
        </p:grpSpPr>
        <p:sp>
          <p:nvSpPr>
            <p:cNvPr id="96" name="Google Shape;96;p3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3"/>
          <p:cNvGrpSpPr/>
          <p:nvPr/>
        </p:nvGrpSpPr>
        <p:grpSpPr>
          <a:xfrm flipH="1">
            <a:off x="-1155987" y="-338232"/>
            <a:ext cx="1938846" cy="1720830"/>
            <a:chOff x="-1873362" y="2120543"/>
            <a:chExt cx="1938846" cy="1720830"/>
          </a:xfrm>
        </p:grpSpPr>
        <p:sp>
          <p:nvSpPr>
            <p:cNvPr id="116" name="Google Shape;116;p3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82385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61" r:id="rId6"/>
    <p:sldLayoutId id="2147483662" r:id="rId7"/>
    <p:sldLayoutId id="2147483663" r:id="rId8"/>
    <p:sldLayoutId id="2147483664" r:id="rId9"/>
    <p:sldLayoutId id="2147483666" r:id="rId10"/>
    <p:sldLayoutId id="2147483667" r:id="rId11"/>
    <p:sldLayoutId id="2147483669" r:id="rId12"/>
    <p:sldLayoutId id="2147483670" r:id="rId13"/>
    <p:sldLayoutId id="214748367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8"/>
          <p:cNvSpPr txBox="1">
            <a:spLocks noGrp="1"/>
          </p:cNvSpPr>
          <p:nvPr>
            <p:ph type="ctrTitle"/>
          </p:nvPr>
        </p:nvSpPr>
        <p:spPr>
          <a:xfrm flipH="1">
            <a:off x="404522" y="2466936"/>
            <a:ext cx="6952800" cy="747786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dirty="0" smtClean="0">
                <a:ea typeface="Montserrat Medium"/>
                <a:cs typeface="Montserrat Medium"/>
              </a:rPr>
              <a:t>W3.css</a:t>
            </a:r>
            <a:endParaRPr dirty="0"/>
          </a:p>
        </p:txBody>
      </p:sp>
      <p:sp>
        <p:nvSpPr>
          <p:cNvPr id="925" name="Google Shape;925;p28"/>
          <p:cNvSpPr/>
          <p:nvPr/>
        </p:nvSpPr>
        <p:spPr>
          <a:xfrm flipH="1">
            <a:off x="-186582" y="5584563"/>
            <a:ext cx="29" cy="29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1"/>
                </a:move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 w="56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6" name="Google Shape;926;p28"/>
          <p:cNvGrpSpPr/>
          <p:nvPr/>
        </p:nvGrpSpPr>
        <p:grpSpPr>
          <a:xfrm flipH="1">
            <a:off x="5870297" y="3482200"/>
            <a:ext cx="1929500" cy="2210100"/>
            <a:chOff x="295725" y="-3462825"/>
            <a:chExt cx="1929500" cy="2210100"/>
          </a:xfrm>
        </p:grpSpPr>
        <p:sp>
          <p:nvSpPr>
            <p:cNvPr id="927" name="Google Shape;927;p28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8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8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8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8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8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8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8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8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8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8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8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8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8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8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8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8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8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8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8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8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8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8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8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8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2" name="Google Shape;952;p28"/>
          <p:cNvGrpSpPr/>
          <p:nvPr/>
        </p:nvGrpSpPr>
        <p:grpSpPr>
          <a:xfrm>
            <a:off x="948060" y="3973813"/>
            <a:ext cx="1040638" cy="901375"/>
            <a:chOff x="948060" y="3972813"/>
            <a:chExt cx="1040638" cy="901375"/>
          </a:xfrm>
        </p:grpSpPr>
        <p:grpSp>
          <p:nvGrpSpPr>
            <p:cNvPr id="953" name="Google Shape;953;p28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954" name="Google Shape;954;p2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6" name="Google Shape;956;p2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957" name="Google Shape;957;p2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2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0" name="Google Shape;960;p28"/>
          <p:cNvGrpSpPr/>
          <p:nvPr/>
        </p:nvGrpSpPr>
        <p:grpSpPr>
          <a:xfrm>
            <a:off x="693572" y="3419992"/>
            <a:ext cx="4208350" cy="192185"/>
            <a:chOff x="948060" y="2996029"/>
            <a:chExt cx="4208350" cy="192185"/>
          </a:xfrm>
        </p:grpSpPr>
        <p:sp>
          <p:nvSpPr>
            <p:cNvPr id="961" name="Google Shape;961;p28"/>
            <p:cNvSpPr/>
            <p:nvPr/>
          </p:nvSpPr>
          <p:spPr>
            <a:xfrm rot="-2700000" flipH="1">
              <a:off x="1692865" y="3024234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62" name="Google Shape;962;p28"/>
            <p:cNvCxnSpPr>
              <a:stCxn id="963" idx="6"/>
              <a:endCxn id="964" idx="2"/>
            </p:cNvCxnSpPr>
            <p:nvPr/>
          </p:nvCxnSpPr>
          <p:spPr>
            <a:xfrm rot="10800000">
              <a:off x="1005010" y="3091118"/>
              <a:ext cx="4094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3" name="Google Shape;963;p28"/>
            <p:cNvSpPr/>
            <p:nvPr/>
          </p:nvSpPr>
          <p:spPr>
            <a:xfrm flipH="1">
              <a:off x="5099410" y="306261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8"/>
            <p:cNvSpPr/>
            <p:nvPr/>
          </p:nvSpPr>
          <p:spPr>
            <a:xfrm flipH="1">
              <a:off x="948060" y="306264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" name="Image 4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1" t="18578" r="17774" b="20688"/>
          <a:stretch/>
        </p:blipFill>
        <p:spPr>
          <a:xfrm>
            <a:off x="5264955" y="1104311"/>
            <a:ext cx="1575083" cy="1391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782850" y="284502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r>
              <a:rPr lang="fr-FR" dirty="0" smtClean="0"/>
              <a:t> </a:t>
            </a:r>
            <a:r>
              <a:rPr lang="fr-FR" dirty="0"/>
              <a:t>1. Introduction à W3.CSS</a:t>
            </a:r>
            <a:br>
              <a:rPr lang="fr-FR" dirty="0"/>
            </a:br>
            <a:endParaRPr dirty="0"/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50" y="720144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ZoneTexte 2"/>
          <p:cNvSpPr txBox="1"/>
          <p:nvPr/>
        </p:nvSpPr>
        <p:spPr>
          <a:xfrm>
            <a:off x="312525" y="1028700"/>
            <a:ext cx="80486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 smtClean="0">
              <a:latin typeface="Montserrat" panose="020B0604020202020204" charset="0"/>
            </a:endParaRPr>
          </a:p>
          <a:p>
            <a:r>
              <a:rPr lang="fr-FR" sz="1800" dirty="0" smtClean="0">
                <a:latin typeface="Montserrat" panose="020B0604020202020204" charset="0"/>
              </a:rPr>
              <a:t>        </a:t>
            </a:r>
            <a:r>
              <a:rPr lang="fr-FR" sz="1800" dirty="0" smtClean="0">
                <a:solidFill>
                  <a:schemeClr val="bg1"/>
                </a:solidFill>
                <a:latin typeface="Montserrat" panose="020B0604020202020204" charset="0"/>
              </a:rPr>
              <a:t>W3.CSS 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est un </a:t>
            </a:r>
            <a:r>
              <a:rPr lang="fr-FR" sz="1800" b="1" dirty="0" err="1">
                <a:solidFill>
                  <a:schemeClr val="bg1"/>
                </a:solidFill>
                <a:latin typeface="Montserrat" panose="020B0604020202020204" charset="0"/>
              </a:rPr>
              <a:t>framework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 CSS moderne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, créé par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W3Schools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, qui permet de créer rapidement des sites web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beaux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,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professionnels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,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réactifs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 (</a:t>
            </a:r>
            <a:r>
              <a:rPr lang="fr-FR" sz="1800" i="1" dirty="0">
                <a:solidFill>
                  <a:schemeClr val="bg1"/>
                </a:solidFill>
                <a:latin typeface="Montserrat" panose="020B0604020202020204" charset="0"/>
              </a:rPr>
              <a:t>responsive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) et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compatibles mobiles</a:t>
            </a:r>
            <a:r>
              <a:rPr lang="fr-FR" dirty="0">
                <a:solidFill>
                  <a:schemeClr val="bg1"/>
                </a:solidFill>
                <a:latin typeface="Montserrat" panose="020B0604020202020204" charset="0"/>
              </a:rPr>
              <a:t>.</a:t>
            </a:r>
          </a:p>
          <a:p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	</a:t>
            </a:r>
          </a:p>
          <a:p>
            <a:endParaRPr lang="fr-FR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fr-FR" b="1" dirty="0">
                <a:solidFill>
                  <a:schemeClr val="bg1"/>
                </a:solidFill>
                <a:latin typeface="Montserrat" panose="020B0604020202020204" charset="0"/>
              </a:rPr>
              <a:t>	</a:t>
            </a:r>
            <a:r>
              <a:rPr lang="fr-FR" b="1" dirty="0" smtClean="0">
                <a:solidFill>
                  <a:schemeClr val="bg1"/>
                </a:solidFill>
                <a:latin typeface="Montserrat" panose="020B0604020202020204" charset="0"/>
              </a:rPr>
              <a:t>Pourquoi </a:t>
            </a:r>
            <a:r>
              <a:rPr lang="fr-FR" b="1" dirty="0">
                <a:solidFill>
                  <a:schemeClr val="bg1"/>
                </a:solidFill>
                <a:latin typeface="Montserrat" panose="020B0604020202020204" charset="0"/>
              </a:rPr>
              <a:t>utiliser W3.CSS ?</a:t>
            </a:r>
            <a:endParaRPr lang="fr-FR" dirty="0">
              <a:solidFill>
                <a:schemeClr val="bg1"/>
              </a:solidFill>
              <a:latin typeface="Montserrat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Il est </a:t>
            </a:r>
            <a:r>
              <a:rPr lang="fr-FR" sz="2000" b="1" dirty="0">
                <a:solidFill>
                  <a:schemeClr val="bg1"/>
                </a:solidFill>
                <a:latin typeface="Montserrat" panose="020B0604020202020204" charset="0"/>
              </a:rPr>
              <a:t>simple</a:t>
            </a: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 : aucune configuration compliquée.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Il est </a:t>
            </a:r>
            <a:r>
              <a:rPr lang="fr-FR" sz="2000" b="1" dirty="0">
                <a:solidFill>
                  <a:schemeClr val="bg1"/>
                </a:solidFill>
                <a:latin typeface="Montserrat" panose="020B0604020202020204" charset="0"/>
              </a:rPr>
              <a:t>léger</a:t>
            </a: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 : charge très vite.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Il est </a:t>
            </a:r>
            <a:r>
              <a:rPr lang="fr-FR" sz="2000" b="1" dirty="0">
                <a:solidFill>
                  <a:schemeClr val="bg1"/>
                </a:solidFill>
                <a:latin typeface="Montserrat" panose="020B0604020202020204" charset="0"/>
              </a:rPr>
              <a:t>responsive automatiquement</a:t>
            </a: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 : s’adapte aux écrans.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Il est </a:t>
            </a:r>
            <a:r>
              <a:rPr lang="fr-FR" sz="2000" b="1" dirty="0">
                <a:solidFill>
                  <a:schemeClr val="bg1"/>
                </a:solidFill>
                <a:latin typeface="Montserrat" panose="020B0604020202020204" charset="0"/>
              </a:rPr>
              <a:t>sans JavaScript</a:t>
            </a: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 : fonctionne uniquement avec du HTML + CSS.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Il contient plus de </a:t>
            </a:r>
            <a:r>
              <a:rPr lang="fr-FR" sz="2000" b="1" dirty="0">
                <a:solidFill>
                  <a:schemeClr val="bg1"/>
                </a:solidFill>
                <a:latin typeface="Montserrat" panose="020B0604020202020204" charset="0"/>
              </a:rPr>
              <a:t>200 classes prêtes à l’emploi</a:t>
            </a: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.</a:t>
            </a:r>
          </a:p>
          <a:p>
            <a:endParaRPr lang="fr-FR"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0"/>
          <p:cNvSpPr txBox="1">
            <a:spLocks noGrp="1"/>
          </p:cNvSpPr>
          <p:nvPr>
            <p:ph type="title"/>
          </p:nvPr>
        </p:nvSpPr>
        <p:spPr>
          <a:xfrm>
            <a:off x="778384" y="155724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r>
              <a:rPr lang="fr-FR" dirty="0"/>
              <a:t>2. Installation simple</a:t>
            </a:r>
            <a:br>
              <a:rPr lang="fr-FR" dirty="0"/>
            </a:br>
            <a:endParaRPr dirty="0"/>
          </a:p>
        </p:txBody>
      </p:sp>
      <p:grpSp>
        <p:nvGrpSpPr>
          <p:cNvPr id="991" name="Google Shape;991;p30"/>
          <p:cNvGrpSpPr/>
          <p:nvPr/>
        </p:nvGrpSpPr>
        <p:grpSpPr>
          <a:xfrm rot="10800000">
            <a:off x="7379194" y="-538557"/>
            <a:ext cx="1803578" cy="1592367"/>
            <a:chOff x="-4912150" y="-393637"/>
            <a:chExt cx="2057000" cy="1816112"/>
          </a:xfrm>
        </p:grpSpPr>
        <p:sp>
          <p:nvSpPr>
            <p:cNvPr id="992" name="Google Shape;992;p30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0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0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0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0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0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7" name="Google Shape;1017;p30"/>
          <p:cNvGrpSpPr/>
          <p:nvPr/>
        </p:nvGrpSpPr>
        <p:grpSpPr>
          <a:xfrm>
            <a:off x="2859480" y="670131"/>
            <a:ext cx="3407100" cy="192184"/>
            <a:chOff x="1512197" y="1069304"/>
            <a:chExt cx="3407100" cy="192184"/>
          </a:xfrm>
        </p:grpSpPr>
        <p:grpSp>
          <p:nvGrpSpPr>
            <p:cNvPr id="1018" name="Google Shape;1018;p30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019" name="Google Shape;1019;p30"/>
              <p:cNvSpPr/>
              <p:nvPr/>
            </p:nvSpPr>
            <p:spPr>
              <a:xfrm rot="-2700000" flipH="1">
                <a:off x="45080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20" name="Google Shape;1020;p30"/>
              <p:cNvCxnSpPr>
                <a:stCxn id="1021" idx="6"/>
                <a:endCxn id="1022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2" name="Google Shape;1022;p30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1" name="Google Shape;1021;p30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>
          <a:xfrm>
            <a:off x="561975" y="926576"/>
            <a:ext cx="8240155" cy="3540649"/>
          </a:xfrm>
        </p:spPr>
        <p:txBody>
          <a:bodyPr/>
          <a:lstStyle/>
          <a:p>
            <a:r>
              <a:rPr lang="fr-FR" sz="2000" b="1" dirty="0"/>
              <a:t>W3.CSS </a:t>
            </a:r>
            <a:r>
              <a:rPr lang="fr-FR" sz="2000" dirty="0"/>
              <a:t>s’installe en ajoutant une seule ligne dans la balise &lt;</a:t>
            </a:r>
            <a:r>
              <a:rPr lang="fr-FR" sz="2000" dirty="0" err="1"/>
              <a:t>head</a:t>
            </a:r>
            <a:r>
              <a:rPr lang="fr-FR" sz="2000" dirty="0"/>
              <a:t>&gt; de la page :</a:t>
            </a:r>
          </a:p>
          <a:p>
            <a:endParaRPr lang="fr-FR" sz="2000" b="1" dirty="0" smtClean="0"/>
          </a:p>
          <a:p>
            <a:r>
              <a:rPr lang="fr-FR" sz="2000" b="1" dirty="0" smtClean="0"/>
              <a:t>	</a:t>
            </a:r>
          </a:p>
          <a:p>
            <a:endParaRPr lang="fr-FR" sz="2000" b="1" dirty="0"/>
          </a:p>
          <a:p>
            <a:r>
              <a:rPr lang="fr-FR" sz="2000" b="1" dirty="0" smtClean="0"/>
              <a:t>		Explication </a:t>
            </a:r>
            <a:r>
              <a:rPr lang="fr-FR" sz="2000" b="1" dirty="0"/>
              <a:t>:</a:t>
            </a:r>
            <a:endParaRPr lang="fr-FR" sz="2000" dirty="0"/>
          </a:p>
          <a:p>
            <a:pPr lvl="0"/>
            <a:r>
              <a:rPr lang="fr-FR" sz="2000" dirty="0"/>
              <a:t>On ne télécharge rien.</a:t>
            </a:r>
          </a:p>
          <a:p>
            <a:pPr lvl="0"/>
            <a:r>
              <a:rPr lang="fr-FR" sz="2000" dirty="0"/>
              <a:t>On utilise directement le fichier hébergé par W3Schools.</a:t>
            </a:r>
          </a:p>
          <a:p>
            <a:pPr lvl="0"/>
            <a:r>
              <a:rPr lang="fr-FR" sz="2000" dirty="0"/>
              <a:t>Dès cette ligne ajoutée, toutes les classes W3.CSS deviennent utilisables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63" name="Image 6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89" y="1608097"/>
            <a:ext cx="8577241" cy="73519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1"/>
          <p:cNvSpPr txBox="1">
            <a:spLocks noGrp="1"/>
          </p:cNvSpPr>
          <p:nvPr>
            <p:ph type="title"/>
          </p:nvPr>
        </p:nvSpPr>
        <p:spPr>
          <a:xfrm>
            <a:off x="782850" y="257802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fr-FR" dirty="0"/>
              <a:t>3. Les classes de couleurs</a:t>
            </a:r>
            <a:endParaRPr dirty="0"/>
          </a:p>
        </p:txBody>
      </p:sp>
      <p:grpSp>
        <p:nvGrpSpPr>
          <p:cNvPr id="1042" name="Google Shape;1042;p31"/>
          <p:cNvGrpSpPr/>
          <p:nvPr/>
        </p:nvGrpSpPr>
        <p:grpSpPr>
          <a:xfrm>
            <a:off x="1565613" y="662943"/>
            <a:ext cx="5921700" cy="192184"/>
            <a:chOff x="902597" y="1069304"/>
            <a:chExt cx="5921700" cy="192184"/>
          </a:xfrm>
        </p:grpSpPr>
        <p:grpSp>
          <p:nvGrpSpPr>
            <p:cNvPr id="1043" name="Google Shape;1043;p31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044" name="Google Shape;1044;p31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5" name="Google Shape;1045;p31"/>
              <p:cNvCxnSpPr>
                <a:stCxn id="1046" idx="6"/>
                <a:endCxn id="104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7" name="Google Shape;1047;p31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6" name="Google Shape;1046;p31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4" name="Google Shape;1054;p31"/>
          <p:cNvSpPr txBox="1">
            <a:spLocks noGrp="1"/>
          </p:cNvSpPr>
          <p:nvPr>
            <p:ph type="subTitle" idx="3"/>
          </p:nvPr>
        </p:nvSpPr>
        <p:spPr>
          <a:xfrm>
            <a:off x="635500" y="956711"/>
            <a:ext cx="7781925" cy="367249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r>
              <a:rPr lang="fr-FR" b="1" dirty="0"/>
              <a:t>W3.CSS</a:t>
            </a:r>
            <a:r>
              <a:rPr lang="fr-FR" dirty="0"/>
              <a:t> propose des </a:t>
            </a:r>
            <a:r>
              <a:rPr lang="fr-FR" b="1" dirty="0"/>
              <a:t>couleurs prêtes à l’emploi</a:t>
            </a:r>
            <a:r>
              <a:rPr lang="fr-FR" dirty="0"/>
              <a:t> sous forme de </a:t>
            </a:r>
            <a:r>
              <a:rPr lang="fr-FR" dirty="0" smtClean="0"/>
              <a:t>classes.</a:t>
            </a:r>
            <a:r>
              <a:rPr lang="fr-FR" b="1" dirty="0" smtClean="0"/>
              <a:t> </a:t>
            </a:r>
          </a:p>
          <a:p>
            <a:endParaRPr lang="fr-FR" b="1" dirty="0" smtClean="0"/>
          </a:p>
          <a:p>
            <a:r>
              <a:rPr lang="fr-FR" b="1" dirty="0" smtClean="0"/>
              <a:t>Exemple </a:t>
            </a:r>
            <a:r>
              <a:rPr lang="fr-FR" b="1" dirty="0"/>
              <a:t>simple </a:t>
            </a:r>
            <a:r>
              <a:rPr lang="fr-FR" b="1" dirty="0" smtClean="0"/>
              <a:t>:</a:t>
            </a:r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/>
          </a:p>
          <a:p>
            <a:endParaRPr lang="fr-FR" dirty="0"/>
          </a:p>
          <a:p>
            <a:r>
              <a:rPr lang="fr-FR" b="1" dirty="0" smtClean="0"/>
              <a:t>		</a:t>
            </a:r>
          </a:p>
          <a:p>
            <a:endParaRPr lang="fr-FR" b="1" dirty="0"/>
          </a:p>
          <a:p>
            <a:r>
              <a:rPr lang="fr-FR" b="1" dirty="0" smtClean="0"/>
              <a:t>Explication </a:t>
            </a:r>
            <a:r>
              <a:rPr lang="fr-FR" b="1" dirty="0"/>
              <a:t>:</a:t>
            </a:r>
            <a:endParaRPr lang="fr-FR" dirty="0"/>
          </a:p>
          <a:p>
            <a:pPr lvl="0"/>
            <a:r>
              <a:rPr lang="fr-FR" dirty="0"/>
              <a:t>w3-blue, w3-green, etc. modifient le fond.</a:t>
            </a:r>
          </a:p>
          <a:p>
            <a:pPr lvl="0"/>
            <a:r>
              <a:rPr lang="fr-FR" dirty="0"/>
              <a:t>w3-padding ajoute automatiquement un espace à l’intérieur.</a:t>
            </a:r>
          </a:p>
          <a:p>
            <a:r>
              <a:rPr lang="fr-FR" dirty="0"/>
              <a:t>Les couleurs disponibles sont très nombreuses </a:t>
            </a:r>
            <a:r>
              <a:rPr lang="fr-FR" dirty="0" smtClean="0"/>
              <a:t>:</a:t>
            </a:r>
          </a:p>
          <a:p>
            <a:r>
              <a:rPr lang="fr-FR" b="1" dirty="0" smtClean="0"/>
              <a:t>w3-blue</a:t>
            </a:r>
            <a:r>
              <a:rPr lang="fr-FR" b="1" dirty="0"/>
              <a:t>, w3-red, w3-teal, w3-black, w3-yellow, w3-grey, w3-purple</a:t>
            </a:r>
            <a:r>
              <a:rPr lang="fr-FR" dirty="0"/>
              <a:t>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56" name="Google Shape;1056;p31"/>
          <p:cNvGrpSpPr/>
          <p:nvPr/>
        </p:nvGrpSpPr>
        <p:grpSpPr>
          <a:xfrm>
            <a:off x="6541944" y="4287300"/>
            <a:ext cx="713803" cy="706547"/>
            <a:chOff x="-4017975" y="616650"/>
            <a:chExt cx="814100" cy="805825"/>
          </a:xfrm>
        </p:grpSpPr>
        <p:sp>
          <p:nvSpPr>
            <p:cNvPr id="1057" name="Google Shape;1057;p31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31"/>
          <p:cNvGrpSpPr/>
          <p:nvPr/>
        </p:nvGrpSpPr>
        <p:grpSpPr>
          <a:xfrm>
            <a:off x="7462488" y="3721438"/>
            <a:ext cx="1040638" cy="901375"/>
            <a:chOff x="8457538" y="810363"/>
            <a:chExt cx="1040638" cy="901375"/>
          </a:xfrm>
        </p:grpSpPr>
        <p:grpSp>
          <p:nvGrpSpPr>
            <p:cNvPr id="1062" name="Google Shape;1062;p31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63" name="Google Shape;1063;p31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1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66" name="Google Shape;1066;p31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9" name="Image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5" y="1744085"/>
            <a:ext cx="7050575" cy="129332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oogle Shape;1076;p32"/>
          <p:cNvGrpSpPr/>
          <p:nvPr/>
        </p:nvGrpSpPr>
        <p:grpSpPr>
          <a:xfrm rot="10800000">
            <a:off x="3188769" y="4079806"/>
            <a:ext cx="1803578" cy="1592367"/>
            <a:chOff x="-4912150" y="-393637"/>
            <a:chExt cx="2057000" cy="1816112"/>
          </a:xfrm>
        </p:grpSpPr>
        <p:sp>
          <p:nvSpPr>
            <p:cNvPr id="1077" name="Google Shape;1077;p32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32"/>
          <p:cNvGrpSpPr/>
          <p:nvPr/>
        </p:nvGrpSpPr>
        <p:grpSpPr>
          <a:xfrm>
            <a:off x="4572000" y="169263"/>
            <a:ext cx="946675" cy="901375"/>
            <a:chOff x="4487300" y="227688"/>
            <a:chExt cx="946675" cy="901375"/>
          </a:xfrm>
        </p:grpSpPr>
        <p:grpSp>
          <p:nvGrpSpPr>
            <p:cNvPr id="1097" name="Google Shape;1097;p32"/>
            <p:cNvGrpSpPr/>
            <p:nvPr/>
          </p:nvGrpSpPr>
          <p:grpSpPr>
            <a:xfrm>
              <a:off x="5249800" y="345688"/>
              <a:ext cx="184175" cy="158025"/>
              <a:chOff x="-3626300" y="-1680825"/>
              <a:chExt cx="184175" cy="158025"/>
            </a:xfrm>
          </p:grpSpPr>
          <p:sp>
            <p:nvSpPr>
              <p:cNvPr id="1098" name="Google Shape;1098;p32"/>
              <p:cNvSpPr/>
              <p:nvPr/>
            </p:nvSpPr>
            <p:spPr>
              <a:xfrm>
                <a:off x="-3626300" y="-1680825"/>
                <a:ext cx="184175" cy="158025"/>
              </a:xfrm>
              <a:custGeom>
                <a:avLst/>
                <a:gdLst/>
                <a:ahLst/>
                <a:cxnLst/>
                <a:rect l="l" t="t" r="r" b="b"/>
                <a:pathLst>
                  <a:path w="7367" h="6321" extrusionOk="0">
                    <a:moveTo>
                      <a:pt x="4219" y="295"/>
                    </a:moveTo>
                    <a:cubicBezTo>
                      <a:pt x="5804" y="295"/>
                      <a:pt x="7087" y="1578"/>
                      <a:pt x="7087" y="3163"/>
                    </a:cubicBezTo>
                    <a:cubicBezTo>
                      <a:pt x="7087" y="4901"/>
                      <a:pt x="5670" y="6050"/>
                      <a:pt x="4190" y="6050"/>
                    </a:cubicBezTo>
                    <a:cubicBezTo>
                      <a:pt x="3484" y="6050"/>
                      <a:pt x="2764" y="5789"/>
                      <a:pt x="2177" y="5205"/>
                    </a:cubicBezTo>
                    <a:cubicBezTo>
                      <a:pt x="369" y="3386"/>
                      <a:pt x="1653" y="295"/>
                      <a:pt x="4219" y="295"/>
                    </a:cubicBezTo>
                    <a:close/>
                    <a:moveTo>
                      <a:pt x="4193" y="1"/>
                    </a:moveTo>
                    <a:cubicBezTo>
                      <a:pt x="3419" y="1"/>
                      <a:pt x="2630" y="289"/>
                      <a:pt x="1987" y="931"/>
                    </a:cubicBezTo>
                    <a:cubicBezTo>
                      <a:pt x="1" y="2928"/>
                      <a:pt x="1407" y="6321"/>
                      <a:pt x="4219" y="6321"/>
                    </a:cubicBezTo>
                    <a:cubicBezTo>
                      <a:pt x="5960" y="6321"/>
                      <a:pt x="7366" y="4904"/>
                      <a:pt x="7366" y="3163"/>
                    </a:cubicBezTo>
                    <a:cubicBezTo>
                      <a:pt x="7366" y="1260"/>
                      <a:pt x="5813" y="1"/>
                      <a:pt x="4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>
                <a:off x="-3559050" y="-1636200"/>
                <a:ext cx="76175" cy="68900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2756" extrusionOk="0">
                    <a:moveTo>
                      <a:pt x="1516" y="0"/>
                    </a:moveTo>
                    <a:cubicBezTo>
                      <a:pt x="891" y="0"/>
                      <a:pt x="331" y="427"/>
                      <a:pt x="179" y="1065"/>
                    </a:cubicBezTo>
                    <a:cubicBezTo>
                      <a:pt x="0" y="1802"/>
                      <a:pt x="469" y="2550"/>
                      <a:pt x="1206" y="2717"/>
                    </a:cubicBezTo>
                    <a:cubicBezTo>
                      <a:pt x="1315" y="2743"/>
                      <a:pt x="1424" y="2756"/>
                      <a:pt x="1531" y="2756"/>
                    </a:cubicBezTo>
                    <a:cubicBezTo>
                      <a:pt x="2157" y="2756"/>
                      <a:pt x="2716" y="2329"/>
                      <a:pt x="2868" y="1690"/>
                    </a:cubicBezTo>
                    <a:cubicBezTo>
                      <a:pt x="3047" y="954"/>
                      <a:pt x="2578" y="206"/>
                      <a:pt x="1842" y="39"/>
                    </a:cubicBezTo>
                    <a:cubicBezTo>
                      <a:pt x="1732" y="13"/>
                      <a:pt x="1623" y="0"/>
                      <a:pt x="15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0" name="Google Shape;1100;p32"/>
            <p:cNvGrpSpPr/>
            <p:nvPr/>
          </p:nvGrpSpPr>
          <p:grpSpPr>
            <a:xfrm>
              <a:off x="4487300" y="227688"/>
              <a:ext cx="716725" cy="901375"/>
              <a:chOff x="-3888525" y="-2483300"/>
              <a:chExt cx="716725" cy="901375"/>
            </a:xfrm>
          </p:grpSpPr>
          <p:sp>
            <p:nvSpPr>
              <p:cNvPr id="1101" name="Google Shape;1101;p32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1039;p31"/>
          <p:cNvSpPr txBox="1">
            <a:spLocks noGrp="1"/>
          </p:cNvSpPr>
          <p:nvPr>
            <p:ph type="title"/>
          </p:nvPr>
        </p:nvSpPr>
        <p:spPr>
          <a:xfrm>
            <a:off x="782850" y="257802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fr-FR" dirty="0"/>
              <a:t>4. Les boutons (w3-button)</a:t>
            </a:r>
            <a:endParaRPr dirty="0"/>
          </a:p>
        </p:txBody>
      </p:sp>
      <p:grpSp>
        <p:nvGrpSpPr>
          <p:cNvPr id="40" name="Google Shape;1042;p31"/>
          <p:cNvGrpSpPr/>
          <p:nvPr/>
        </p:nvGrpSpPr>
        <p:grpSpPr>
          <a:xfrm>
            <a:off x="1289439" y="786023"/>
            <a:ext cx="5921700" cy="192184"/>
            <a:chOff x="902597" y="1069304"/>
            <a:chExt cx="5921700" cy="192184"/>
          </a:xfrm>
        </p:grpSpPr>
        <p:grpSp>
          <p:nvGrpSpPr>
            <p:cNvPr id="41" name="Google Shape;1043;p31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43" name="Google Shape;1044;p31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4" name="Google Shape;1045;p31"/>
              <p:cNvCxnSpPr>
                <a:stCxn id="42" idx="6"/>
                <a:endCxn id="45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" name="Google Shape;1047;p31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" name="Google Shape;1046;p31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1054;p31"/>
          <p:cNvSpPr txBox="1">
            <a:spLocks noGrp="1"/>
          </p:cNvSpPr>
          <p:nvPr>
            <p:ph type="subTitle" idx="4294967295"/>
          </p:nvPr>
        </p:nvSpPr>
        <p:spPr>
          <a:xfrm>
            <a:off x="359326" y="982249"/>
            <a:ext cx="8546549" cy="374671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Montserrat" panose="020B0604020202020204" charset="0"/>
              </a:rPr>
              <a:t>Les boutons </a:t>
            </a: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dans W3.CSS sont très simples à utiliser.</a:t>
            </a:r>
          </a:p>
          <a:p>
            <a:r>
              <a:rPr lang="fr-FR" sz="2000" b="1" dirty="0" smtClean="0">
                <a:solidFill>
                  <a:schemeClr val="bg1"/>
                </a:solidFill>
                <a:latin typeface="Montserrat" panose="020B0604020202020204" charset="0"/>
              </a:rPr>
              <a:t>	Exemple </a:t>
            </a:r>
            <a:r>
              <a:rPr lang="fr-FR" sz="2000" b="1" dirty="0">
                <a:solidFill>
                  <a:schemeClr val="bg1"/>
                </a:solidFill>
                <a:latin typeface="Montserrat" panose="020B0604020202020204" charset="0"/>
              </a:rPr>
              <a:t>:</a:t>
            </a:r>
            <a:endParaRPr lang="fr-FR" sz="2000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20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20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20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20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fr-FR" sz="2000" b="1" dirty="0" smtClean="0">
                <a:solidFill>
                  <a:schemeClr val="bg1"/>
                </a:solidFill>
                <a:latin typeface="Montserrat" panose="020B0604020202020204" charset="0"/>
              </a:rPr>
              <a:t>	Explication </a:t>
            </a:r>
            <a:r>
              <a:rPr lang="fr-FR" sz="2000" b="1" dirty="0">
                <a:solidFill>
                  <a:schemeClr val="bg1"/>
                </a:solidFill>
                <a:latin typeface="Montserrat" panose="020B0604020202020204" charset="0"/>
              </a:rPr>
              <a:t>:</a:t>
            </a:r>
            <a:endParaRPr lang="fr-FR" sz="2000" dirty="0">
              <a:solidFill>
                <a:schemeClr val="bg1"/>
              </a:solidFill>
              <a:latin typeface="Montserrat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w3-button transforme instantanément n’importe quel élément en bouton.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w3-blue = couleur.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w3-round-large = coins arrondis.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49" name="Imag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26" y="1702866"/>
            <a:ext cx="8251274" cy="8646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0" name="Google Shape;1120;p33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8" name="Google Shape;1148;p3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5" name="Google Shape;1039;p31"/>
          <p:cNvSpPr txBox="1">
            <a:spLocks noGrp="1"/>
          </p:cNvSpPr>
          <p:nvPr>
            <p:ph type="title"/>
          </p:nvPr>
        </p:nvSpPr>
        <p:spPr>
          <a:xfrm>
            <a:off x="458197" y="267371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 algn="ctr"/>
            <a:r>
              <a:rPr lang="fr-FR" sz="2800" dirty="0"/>
              <a:t>5. Alignement et centrage</a:t>
            </a:r>
            <a:endParaRPr sz="2800" dirty="0"/>
          </a:p>
        </p:txBody>
      </p:sp>
      <p:grpSp>
        <p:nvGrpSpPr>
          <p:cNvPr id="35" name="Google Shape;1042;p31"/>
          <p:cNvGrpSpPr/>
          <p:nvPr/>
        </p:nvGrpSpPr>
        <p:grpSpPr>
          <a:xfrm>
            <a:off x="1280609" y="787745"/>
            <a:ext cx="5921700" cy="192184"/>
            <a:chOff x="902597" y="1069304"/>
            <a:chExt cx="5921700" cy="192184"/>
          </a:xfrm>
        </p:grpSpPr>
        <p:grpSp>
          <p:nvGrpSpPr>
            <p:cNvPr id="36" name="Google Shape;1043;p31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38" name="Google Shape;1044;p31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" name="Google Shape;1045;p31"/>
              <p:cNvCxnSpPr>
                <a:stCxn id="37" idx="6"/>
                <a:endCxn id="40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" name="Google Shape;1047;p31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" name="Google Shape;1046;p31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Sous-titre 2"/>
          <p:cNvSpPr>
            <a:spLocks noGrp="1"/>
          </p:cNvSpPr>
          <p:nvPr>
            <p:ph type="subTitle" idx="1"/>
          </p:nvPr>
        </p:nvSpPr>
        <p:spPr>
          <a:xfrm>
            <a:off x="458197" y="1022790"/>
            <a:ext cx="7886575" cy="3530159"/>
          </a:xfrm>
        </p:spPr>
        <p:txBody>
          <a:bodyPr/>
          <a:lstStyle/>
          <a:p>
            <a:pPr algn="l"/>
            <a:r>
              <a:rPr lang="fr-FR" sz="2000" b="1" dirty="0" smtClean="0"/>
              <a:t>	</a:t>
            </a:r>
          </a:p>
          <a:p>
            <a:pPr algn="l"/>
            <a:r>
              <a:rPr lang="fr-FR" sz="2000" b="1" dirty="0"/>
              <a:t>	</a:t>
            </a:r>
            <a:r>
              <a:rPr lang="fr-FR" sz="2000" b="1" dirty="0" smtClean="0"/>
              <a:t>Exemple </a:t>
            </a:r>
            <a:r>
              <a:rPr lang="fr-FR" sz="2000" b="1" dirty="0"/>
              <a:t>:</a:t>
            </a:r>
            <a:endParaRPr lang="fr-FR" sz="2000" dirty="0"/>
          </a:p>
          <a:p>
            <a:pPr algn="l"/>
            <a:endParaRPr lang="fr-FR" sz="2000" b="1" dirty="0" smtClean="0"/>
          </a:p>
          <a:p>
            <a:pPr algn="l"/>
            <a:endParaRPr lang="fr-FR" sz="2000" b="1" dirty="0" smtClean="0"/>
          </a:p>
          <a:p>
            <a:pPr algn="l"/>
            <a:endParaRPr lang="fr-FR" sz="2000" b="1" dirty="0"/>
          </a:p>
          <a:p>
            <a:pPr algn="l"/>
            <a:endParaRPr lang="fr-FR" sz="2000" b="1" dirty="0"/>
          </a:p>
          <a:p>
            <a:pPr algn="l"/>
            <a:r>
              <a:rPr lang="fr-FR" sz="2000" b="1" dirty="0" smtClean="0"/>
              <a:t>		Explication </a:t>
            </a:r>
            <a:r>
              <a:rPr lang="fr-FR" sz="2000" b="1" dirty="0"/>
              <a:t>:</a:t>
            </a:r>
            <a:endParaRPr lang="fr-FR" sz="2000" dirty="0"/>
          </a:p>
          <a:p>
            <a:pPr marL="469900" lvl="0" indent="-342900" algn="l">
              <a:buFont typeface="Arial" panose="020B0604020202020204" pitchFamily="34" charset="0"/>
              <a:buChar char="•"/>
            </a:pPr>
            <a:r>
              <a:rPr lang="fr-FR" sz="2000" b="1" dirty="0"/>
              <a:t>w3-center</a:t>
            </a:r>
            <a:r>
              <a:rPr lang="fr-FR" sz="2000" dirty="0"/>
              <a:t> centre horizontalement.</a:t>
            </a:r>
          </a:p>
          <a:p>
            <a:pPr marL="469900" lvl="0" indent="-342900" algn="l">
              <a:buFont typeface="Arial" panose="020B0604020202020204" pitchFamily="34" charset="0"/>
              <a:buChar char="•"/>
            </a:pPr>
            <a:r>
              <a:rPr lang="fr-FR" sz="2000" b="1" dirty="0"/>
              <a:t>w3-right</a:t>
            </a:r>
            <a:r>
              <a:rPr lang="fr-FR" sz="2000" dirty="0"/>
              <a:t> aligne à droite</a:t>
            </a:r>
            <a:r>
              <a:rPr lang="fr-FR" sz="2000" dirty="0" smtClean="0"/>
              <a:t>..</a:t>
            </a:r>
            <a:endParaRPr lang="fr-FR" sz="2000" dirty="0"/>
          </a:p>
          <a:p>
            <a:pPr algn="l"/>
            <a:endParaRPr lang="fr-FR" sz="20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37" y="1655297"/>
            <a:ext cx="7649997" cy="64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736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35"/>
          <p:cNvSpPr/>
          <p:nvPr/>
        </p:nvSpPr>
        <p:spPr>
          <a:xfrm>
            <a:off x="2318020" y="3081653"/>
            <a:ext cx="273600" cy="273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35"/>
          <p:cNvSpPr/>
          <p:nvPr/>
        </p:nvSpPr>
        <p:spPr>
          <a:xfrm>
            <a:off x="5355045" y="3078653"/>
            <a:ext cx="273600" cy="273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35"/>
          <p:cNvSpPr txBox="1">
            <a:spLocks noGrp="1"/>
          </p:cNvSpPr>
          <p:nvPr>
            <p:ph type="title"/>
          </p:nvPr>
        </p:nvSpPr>
        <p:spPr>
          <a:xfrm>
            <a:off x="342900" y="556250"/>
            <a:ext cx="801825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r>
              <a:rPr lang="fr-FR" dirty="0" smtClean="0"/>
              <a:t>6</a:t>
            </a:r>
            <a:r>
              <a:rPr lang="fr-FR" dirty="0"/>
              <a:t>. Le système de grille (</a:t>
            </a:r>
            <a:r>
              <a:rPr lang="fr-FR" dirty="0" err="1"/>
              <a:t>layout</a:t>
            </a:r>
            <a:r>
              <a:rPr lang="fr-FR" dirty="0"/>
              <a:t> responsive)</a:t>
            </a:r>
            <a:br>
              <a:rPr lang="fr-FR" dirty="0"/>
            </a:br>
            <a:endParaRPr dirty="0"/>
          </a:p>
        </p:txBody>
      </p:sp>
      <p:grpSp>
        <p:nvGrpSpPr>
          <p:cNvPr id="1220" name="Google Shape;1220;p35"/>
          <p:cNvGrpSpPr/>
          <p:nvPr/>
        </p:nvGrpSpPr>
        <p:grpSpPr>
          <a:xfrm>
            <a:off x="1620675" y="1053836"/>
            <a:ext cx="5921700" cy="192184"/>
            <a:chOff x="902597" y="1069304"/>
            <a:chExt cx="5921700" cy="192184"/>
          </a:xfrm>
        </p:grpSpPr>
        <p:grpSp>
          <p:nvGrpSpPr>
            <p:cNvPr id="1221" name="Google Shape;1221;p35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222" name="Google Shape;1222;p35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23" name="Google Shape;1223;p35"/>
              <p:cNvCxnSpPr>
                <a:stCxn id="1224" idx="6"/>
                <a:endCxn id="1225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25" name="Google Shape;1225;p35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4" name="Google Shape;1224;p35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0" name="Google Shape;1230;p35"/>
          <p:cNvGrpSpPr/>
          <p:nvPr/>
        </p:nvGrpSpPr>
        <p:grpSpPr>
          <a:xfrm>
            <a:off x="782838" y="4237143"/>
            <a:ext cx="960401" cy="721220"/>
            <a:chOff x="695513" y="4237143"/>
            <a:chExt cx="960401" cy="721220"/>
          </a:xfrm>
        </p:grpSpPr>
        <p:sp>
          <p:nvSpPr>
            <p:cNvPr id="1231" name="Google Shape;1231;p35"/>
            <p:cNvSpPr/>
            <p:nvPr/>
          </p:nvSpPr>
          <p:spPr>
            <a:xfrm>
              <a:off x="1175713" y="42371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695513" y="4478468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4" name="Google Shape;1234;p35"/>
          <p:cNvSpPr/>
          <p:nvPr/>
        </p:nvSpPr>
        <p:spPr>
          <a:xfrm>
            <a:off x="5355045" y="3757036"/>
            <a:ext cx="273600" cy="273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35"/>
          <p:cNvSpPr/>
          <p:nvPr/>
        </p:nvSpPr>
        <p:spPr>
          <a:xfrm>
            <a:off x="914070" y="3757655"/>
            <a:ext cx="273600" cy="273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35"/>
          <p:cNvSpPr/>
          <p:nvPr/>
        </p:nvSpPr>
        <p:spPr>
          <a:xfrm>
            <a:off x="3694820" y="4433650"/>
            <a:ext cx="273600" cy="273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35"/>
          <p:cNvSpPr/>
          <p:nvPr/>
        </p:nvSpPr>
        <p:spPr>
          <a:xfrm>
            <a:off x="6751520" y="4433656"/>
            <a:ext cx="273600" cy="273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35"/>
          <p:cNvSpPr/>
          <p:nvPr/>
        </p:nvSpPr>
        <p:spPr>
          <a:xfrm>
            <a:off x="914070" y="2395838"/>
            <a:ext cx="273600" cy="273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35"/>
          <p:cNvSpPr/>
          <p:nvPr/>
        </p:nvSpPr>
        <p:spPr>
          <a:xfrm>
            <a:off x="6757145" y="2395838"/>
            <a:ext cx="273600" cy="273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Sous-titre 2"/>
          <p:cNvSpPr txBox="1">
            <a:spLocks/>
          </p:cNvSpPr>
          <p:nvPr/>
        </p:nvSpPr>
        <p:spPr>
          <a:xfrm>
            <a:off x="304800" y="1370275"/>
            <a:ext cx="8429624" cy="349921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C’est la partie la plus importante de W3.CSS.</a:t>
            </a:r>
            <a:b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</a:br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Elle permet de créer </a:t>
            </a:r>
            <a:r>
              <a:rPr lang="fr-FR" sz="1600" b="1" dirty="0">
                <a:solidFill>
                  <a:schemeClr val="bg1"/>
                </a:solidFill>
                <a:latin typeface="Montserrat" panose="020B0604020202020204" charset="0"/>
              </a:rPr>
              <a:t>des colonnes et des mises en page responsives</a:t>
            </a:r>
            <a:r>
              <a:rPr lang="fr-FR" sz="1600" dirty="0" smtClean="0">
                <a:solidFill>
                  <a:schemeClr val="bg1"/>
                </a:solidFill>
                <a:latin typeface="Montserrat" panose="020B0604020202020204" charset="0"/>
              </a:rPr>
              <a:t>.</a:t>
            </a:r>
          </a:p>
          <a:p>
            <a:r>
              <a:rPr lang="fr-FR" sz="1600" b="1" dirty="0">
                <a:solidFill>
                  <a:schemeClr val="bg1"/>
                </a:solidFill>
                <a:latin typeface="Montserrat" panose="020B0604020202020204" charset="0"/>
              </a:rPr>
              <a:t>	</a:t>
            </a:r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600" b="1" dirty="0">
                <a:solidFill>
                  <a:schemeClr val="bg1"/>
                </a:solidFill>
                <a:latin typeface="Montserrat" panose="020B0604020202020204" charset="0"/>
              </a:rPr>
              <a:t>Exemple </a:t>
            </a:r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 :</a:t>
            </a:r>
          </a:p>
          <a:p>
            <a:endParaRPr lang="fr-FR" sz="16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600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600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600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600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	Explication </a:t>
            </a:r>
            <a:r>
              <a:rPr lang="fr-FR" sz="1600" b="1" dirty="0">
                <a:solidFill>
                  <a:schemeClr val="bg1"/>
                </a:solidFill>
                <a:latin typeface="Montserrat" panose="020B0604020202020204" charset="0"/>
              </a:rPr>
              <a:t>:</a:t>
            </a:r>
            <a:endParaRPr lang="fr-FR" sz="1600" dirty="0">
              <a:solidFill>
                <a:schemeClr val="bg1"/>
              </a:solidFill>
              <a:latin typeface="Montserrat" panose="020B0604020202020204" charset="0"/>
            </a:endParaRPr>
          </a:p>
          <a:p>
            <a:pPr lvl="0"/>
            <a:r>
              <a:rPr lang="fr-FR" sz="1600" b="1" dirty="0">
                <a:solidFill>
                  <a:schemeClr val="bg1"/>
                </a:solidFill>
                <a:latin typeface="Montserrat" panose="020B0604020202020204" charset="0"/>
              </a:rPr>
              <a:t>w3-row</a:t>
            </a:r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 : lignes contenant des colonnes.</a:t>
            </a:r>
          </a:p>
          <a:p>
            <a:pPr lvl="0"/>
            <a:r>
              <a:rPr lang="fr-FR" sz="1600" b="1" dirty="0">
                <a:solidFill>
                  <a:schemeClr val="bg1"/>
                </a:solidFill>
                <a:latin typeface="Montserrat" panose="020B0604020202020204" charset="0"/>
              </a:rPr>
              <a:t>w3-co</a:t>
            </a:r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l : indique une colonne.</a:t>
            </a:r>
          </a:p>
          <a:p>
            <a:pPr lvl="0"/>
            <a:r>
              <a:rPr lang="fr-FR" sz="1600" b="1" dirty="0">
                <a:solidFill>
                  <a:schemeClr val="bg1"/>
                </a:solidFill>
                <a:latin typeface="Montserrat" panose="020B0604020202020204" charset="0"/>
              </a:rPr>
              <a:t>s12</a:t>
            </a:r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 : sur petit écran → 12 colonnes (100% de la largeur).</a:t>
            </a:r>
          </a:p>
          <a:p>
            <a:pPr lvl="0"/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m6</a:t>
            </a:r>
            <a:r>
              <a:rPr lang="fr-FR" sz="1600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: sur écran moyen → </a:t>
            </a:r>
            <a:r>
              <a:rPr lang="fr-FR" sz="1600" dirty="0" smtClean="0">
                <a:solidFill>
                  <a:schemeClr val="bg1"/>
                </a:solidFill>
                <a:latin typeface="Montserrat" panose="020B0604020202020204" charset="0"/>
              </a:rPr>
              <a:t>6 </a:t>
            </a:r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colonnes.</a:t>
            </a:r>
          </a:p>
          <a:p>
            <a:pPr lvl="0"/>
            <a:r>
              <a:rPr lang="fr-FR" sz="1600" b="1" dirty="0">
                <a:solidFill>
                  <a:schemeClr val="bg1"/>
                </a:solidFill>
                <a:latin typeface="Montserrat" panose="020B0604020202020204" charset="0"/>
              </a:rPr>
              <a:t>L</a:t>
            </a:r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4</a:t>
            </a:r>
            <a:r>
              <a:rPr lang="fr-FR" sz="1600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: sur grand écran → 4 colonnes.</a:t>
            </a:r>
          </a:p>
          <a:p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	</a:t>
            </a:r>
          </a:p>
          <a:p>
            <a:r>
              <a:rPr lang="fr-FR" b="1" dirty="0" smtClean="0"/>
              <a:t>	</a:t>
            </a:r>
            <a:endParaRPr lang="fr-FR" dirty="0"/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92" y="2205213"/>
            <a:ext cx="6903055" cy="1104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36"/>
          <p:cNvSpPr txBox="1">
            <a:spLocks noGrp="1"/>
          </p:cNvSpPr>
          <p:nvPr>
            <p:ph type="title"/>
          </p:nvPr>
        </p:nvSpPr>
        <p:spPr>
          <a:xfrm>
            <a:off x="754650" y="259288"/>
            <a:ext cx="7578300" cy="495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fr-FR" dirty="0"/>
              <a:t>7. Les cartes (w3-card)</a:t>
            </a:r>
            <a:endParaRPr dirty="0"/>
          </a:p>
        </p:txBody>
      </p:sp>
      <p:grpSp>
        <p:nvGrpSpPr>
          <p:cNvPr id="1254" name="Google Shape;1254;p36"/>
          <p:cNvGrpSpPr/>
          <p:nvPr/>
        </p:nvGrpSpPr>
        <p:grpSpPr>
          <a:xfrm>
            <a:off x="782850" y="754888"/>
            <a:ext cx="7521900" cy="192184"/>
            <a:chOff x="369197" y="1069304"/>
            <a:chExt cx="7521900" cy="192184"/>
          </a:xfrm>
        </p:grpSpPr>
        <p:grpSp>
          <p:nvGrpSpPr>
            <p:cNvPr id="1255" name="Google Shape;1255;p36"/>
            <p:cNvGrpSpPr/>
            <p:nvPr/>
          </p:nvGrpSpPr>
          <p:grpSpPr>
            <a:xfrm>
              <a:off x="369197" y="1069304"/>
              <a:ext cx="7464900" cy="192184"/>
              <a:chOff x="1801697" y="1069304"/>
              <a:chExt cx="7464900" cy="192184"/>
            </a:xfrm>
          </p:grpSpPr>
          <p:sp>
            <p:nvSpPr>
              <p:cNvPr id="1256" name="Google Shape;1256;p36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57" name="Google Shape;1257;p36"/>
              <p:cNvCxnSpPr>
                <a:stCxn id="1258" idx="6"/>
                <a:endCxn id="1259" idx="2"/>
              </p:cNvCxnSpPr>
              <p:nvPr/>
            </p:nvCxnSpPr>
            <p:spPr>
              <a:xfrm rot="10800000">
                <a:off x="1858697" y="1164492"/>
                <a:ext cx="74079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59" name="Google Shape;1259;p36"/>
              <p:cNvSpPr/>
              <p:nvPr/>
            </p:nvSpPr>
            <p:spPr>
              <a:xfrm flipH="1">
                <a:off x="1801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58" name="Google Shape;1258;p36"/>
            <p:cNvSpPr/>
            <p:nvPr/>
          </p:nvSpPr>
          <p:spPr>
            <a:xfrm flipH="1">
              <a:off x="78340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ZoneTexte 1"/>
          <p:cNvSpPr txBox="1"/>
          <p:nvPr/>
        </p:nvSpPr>
        <p:spPr>
          <a:xfrm>
            <a:off x="333375" y="1042260"/>
            <a:ext cx="8153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Permet de créer des blocs propres, utilisés pour profils, produits ou contenus.</a:t>
            </a:r>
          </a:p>
          <a:p>
            <a:r>
              <a:rPr lang="fr-FR" sz="1800" b="1" dirty="0" smtClean="0">
                <a:solidFill>
                  <a:schemeClr val="bg1"/>
                </a:solidFill>
                <a:latin typeface="Montserrat" panose="020B0604020202020204" charset="0"/>
              </a:rPr>
              <a:t>	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Exemple :</a:t>
            </a:r>
            <a:endParaRPr lang="fr-FR" sz="1800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	</a:t>
            </a:r>
            <a:r>
              <a:rPr lang="fr-FR" sz="1800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Explication :</a:t>
            </a:r>
            <a:endParaRPr lang="fr-FR" sz="1800" dirty="0">
              <a:solidFill>
                <a:schemeClr val="bg1"/>
              </a:solidFill>
              <a:latin typeface="Montserrat" panose="020B0604020202020204" charset="0"/>
            </a:endParaRPr>
          </a:p>
          <a:p>
            <a:pPr lvl="0"/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w3-card ajoute une ombre élégante.</a:t>
            </a:r>
          </a:p>
          <a:p>
            <a:pPr lvl="0"/>
            <a:r>
              <a:rPr lang="fr-FR" sz="1800" dirty="0" smtClean="0">
                <a:solidFill>
                  <a:schemeClr val="bg1"/>
                </a:solidFill>
                <a:latin typeface="Montserrat" panose="020B0604020202020204" charset="0"/>
              </a:rPr>
              <a:t>w3-white 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donne un </a:t>
            </a:r>
            <a:r>
              <a:rPr lang="fr-FR" sz="1800" dirty="0" smtClean="0">
                <a:solidFill>
                  <a:schemeClr val="bg1"/>
                </a:solidFill>
                <a:latin typeface="Montserrat" panose="020B0604020202020204" charset="0"/>
              </a:rPr>
              <a:t>fond blanc.</a:t>
            </a:r>
            <a:endParaRPr lang="fr-FR" sz="1800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w3-padding ajoute automatiquement un espace à l’intérieur</a:t>
            </a:r>
            <a:r>
              <a:rPr lang="fr-FR" sz="1800" dirty="0" smtClean="0">
                <a:solidFill>
                  <a:schemeClr val="bg1"/>
                </a:solidFill>
                <a:latin typeface="Montserrat" panose="020B0604020202020204" charset="0"/>
              </a:rPr>
              <a:t>.</a:t>
            </a:r>
            <a:endParaRPr lang="fr-FR" sz="1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2032219"/>
            <a:ext cx="7611876" cy="1336605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fr-FR" dirty="0"/>
              <a:t>8. La barre de navigation (w3-bar)</a:t>
            </a:r>
            <a:endParaRPr dirty="0"/>
          </a:p>
        </p:txBody>
      </p:sp>
      <p:grpSp>
        <p:nvGrpSpPr>
          <p:cNvPr id="1266" name="Google Shape;1266;p37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267" name="Google Shape;1267;p3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7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4" name="Google Shape;1274;p37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275" name="Google Shape;1275;p37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7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7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7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7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7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7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7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7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7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7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7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7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7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7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7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7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7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7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7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7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7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7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7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0" name="Google Shape;1300;p37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301" name="Google Shape;1301;p3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302" name="Google Shape;1302;p3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" name="Google Shape;1304;p3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305" name="Google Shape;1305;p3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08" name="Google Shape;1308;p37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309" name="Google Shape;1309;p37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310" name="Google Shape;1310;p37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11" name="Google Shape;1311;p37"/>
              <p:cNvCxnSpPr>
                <a:stCxn id="1312" idx="6"/>
                <a:endCxn id="1313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3" name="Google Shape;1313;p37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2" name="Google Shape;1312;p37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ZoneTexte 2"/>
          <p:cNvSpPr txBox="1"/>
          <p:nvPr/>
        </p:nvSpPr>
        <p:spPr>
          <a:xfrm>
            <a:off x="376919" y="1343937"/>
            <a:ext cx="839016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800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fr-FR" sz="1800" dirty="0" smtClean="0">
                <a:solidFill>
                  <a:schemeClr val="bg1"/>
                </a:solidFill>
                <a:latin typeface="Montserrat" panose="020B0604020202020204" charset="0"/>
              </a:rPr>
              <a:t>La 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barre de navigation horizontale se fait très facilement</a:t>
            </a:r>
            <a:r>
              <a:rPr lang="fr-FR" sz="1800" dirty="0" smtClean="0">
                <a:solidFill>
                  <a:schemeClr val="bg1"/>
                </a:solidFill>
                <a:latin typeface="Montserrat" panose="020B0604020202020204" charset="0"/>
              </a:rPr>
              <a:t>.</a:t>
            </a:r>
            <a:r>
              <a:rPr lang="fr-FR" sz="1800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</a:p>
          <a:p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	</a:t>
            </a:r>
            <a:r>
              <a:rPr lang="fr-FR" sz="1800" b="1" dirty="0" smtClean="0">
                <a:solidFill>
                  <a:schemeClr val="bg1"/>
                </a:solidFill>
                <a:latin typeface="Montserrat" panose="020B0604020202020204" charset="0"/>
              </a:rPr>
              <a:t>Exemple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:</a:t>
            </a:r>
            <a:endParaRPr lang="fr-FR" sz="1800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	</a:t>
            </a:r>
            <a:r>
              <a:rPr lang="fr-FR" sz="1800" b="1" dirty="0" smtClean="0">
                <a:solidFill>
                  <a:schemeClr val="bg1"/>
                </a:solidFill>
                <a:latin typeface="Montserrat" panose="020B0604020202020204" charset="0"/>
              </a:rPr>
              <a:t>Explication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:</a:t>
            </a:r>
            <a:endParaRPr lang="fr-FR" sz="1800" dirty="0">
              <a:solidFill>
                <a:schemeClr val="bg1"/>
              </a:solidFill>
              <a:latin typeface="Montserrat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w3-bar 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transforme le div en barre horizontale.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w3-bar-item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 : style uniforme des éléments.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w3-hover-grey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 : effet survol.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76" y="2332095"/>
            <a:ext cx="7758234" cy="123788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43"/>
          <p:cNvSpPr txBox="1">
            <a:spLocks noGrp="1"/>
          </p:cNvSpPr>
          <p:nvPr>
            <p:ph type="title"/>
          </p:nvPr>
        </p:nvSpPr>
        <p:spPr>
          <a:xfrm flipH="1">
            <a:off x="419100" y="556250"/>
            <a:ext cx="794205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fr-FR" dirty="0"/>
              <a:t>9. Les images : bordures et coins arrondis</a:t>
            </a:r>
            <a:endParaRPr dirty="0"/>
          </a:p>
        </p:txBody>
      </p:sp>
      <p:grpSp>
        <p:nvGrpSpPr>
          <p:cNvPr id="1502" name="Google Shape;1502;p43"/>
          <p:cNvGrpSpPr/>
          <p:nvPr/>
        </p:nvGrpSpPr>
        <p:grpSpPr>
          <a:xfrm>
            <a:off x="2335050" y="1069304"/>
            <a:ext cx="4473900" cy="192184"/>
            <a:chOff x="2363547" y="1069304"/>
            <a:chExt cx="4473900" cy="192184"/>
          </a:xfrm>
        </p:grpSpPr>
        <p:grpSp>
          <p:nvGrpSpPr>
            <p:cNvPr id="1503" name="Google Shape;1503;p43"/>
            <p:cNvGrpSpPr/>
            <p:nvPr/>
          </p:nvGrpSpPr>
          <p:grpSpPr>
            <a:xfrm>
              <a:off x="2363547" y="1069304"/>
              <a:ext cx="4416900" cy="192184"/>
              <a:chOff x="2335097" y="1069304"/>
              <a:chExt cx="4416900" cy="192184"/>
            </a:xfrm>
          </p:grpSpPr>
          <p:sp>
            <p:nvSpPr>
              <p:cNvPr id="1504" name="Google Shape;1504;p43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05" name="Google Shape;1505;p43"/>
              <p:cNvCxnSpPr>
                <a:stCxn id="1506" idx="6"/>
                <a:endCxn id="1507" idx="2"/>
              </p:cNvCxnSpPr>
              <p:nvPr/>
            </p:nvCxnSpPr>
            <p:spPr>
              <a:xfrm rot="10800000">
                <a:off x="2392097" y="1164417"/>
                <a:ext cx="4359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07" name="Google Shape;1507;p43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06" name="Google Shape;1506;p43"/>
            <p:cNvSpPr/>
            <p:nvPr/>
          </p:nvSpPr>
          <p:spPr>
            <a:xfrm flipH="1">
              <a:off x="6780447" y="11359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9" name="Google Shape;1529;p43"/>
          <p:cNvGrpSpPr/>
          <p:nvPr/>
        </p:nvGrpSpPr>
        <p:grpSpPr>
          <a:xfrm>
            <a:off x="7219944" y="-221507"/>
            <a:ext cx="1019565" cy="1290805"/>
            <a:chOff x="-4017975" y="-49702"/>
            <a:chExt cx="1162825" cy="1472177"/>
          </a:xfrm>
        </p:grpSpPr>
        <p:sp>
          <p:nvSpPr>
            <p:cNvPr id="1530" name="Google Shape;1530;p4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ZoneTexte 9"/>
          <p:cNvSpPr txBox="1"/>
          <p:nvPr/>
        </p:nvSpPr>
        <p:spPr>
          <a:xfrm>
            <a:off x="222937" y="1190965"/>
            <a:ext cx="8334375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bg1"/>
                </a:solidFill>
                <a:latin typeface="Montserrat" panose="020B0604020202020204" charset="0"/>
              </a:rPr>
              <a:t>	Bordure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simple :</a:t>
            </a:r>
            <a:endParaRPr lang="fr-FR" sz="1800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fr-FR" sz="1800" b="1" dirty="0" smtClean="0">
                <a:solidFill>
                  <a:schemeClr val="bg1"/>
                </a:solidFill>
                <a:latin typeface="Montserrat" panose="020B0604020202020204" charset="0"/>
              </a:rPr>
              <a:t>	</a:t>
            </a:r>
          </a:p>
          <a:p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	</a:t>
            </a:r>
            <a:r>
              <a:rPr lang="fr-FR" sz="1800" b="1" dirty="0" smtClean="0">
                <a:solidFill>
                  <a:schemeClr val="bg1"/>
                </a:solidFill>
                <a:latin typeface="Montserrat" panose="020B0604020202020204" charset="0"/>
              </a:rPr>
              <a:t>Bordure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+ coins arrondis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:</a:t>
            </a:r>
            <a:endParaRPr lang="fr-FR" sz="1800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8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fr-FR" sz="1800" b="1" dirty="0" smtClean="0">
                <a:solidFill>
                  <a:schemeClr val="bg1"/>
                </a:solidFill>
                <a:latin typeface="Montserrat" panose="020B0604020202020204" charset="0"/>
              </a:rPr>
              <a:t>	Explication </a:t>
            </a: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:</a:t>
            </a:r>
            <a:endParaRPr lang="fr-FR" sz="1800" dirty="0">
              <a:solidFill>
                <a:schemeClr val="bg1"/>
              </a:solidFill>
              <a:latin typeface="Montserrat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w3-border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 = bordure noire fine.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chemeClr val="bg1"/>
                </a:solidFill>
                <a:latin typeface="Montserrat" panose="020B0604020202020204" charset="0"/>
              </a:rPr>
              <a:t>w3-round-large</a:t>
            </a:r>
            <a:r>
              <a:rPr lang="fr-FR" sz="1800" dirty="0">
                <a:solidFill>
                  <a:schemeClr val="bg1"/>
                </a:solidFill>
                <a:latin typeface="Montserrat" panose="020B0604020202020204" charset="0"/>
              </a:rPr>
              <a:t> = coins arrondis élégants.</a:t>
            </a:r>
          </a:p>
          <a:p>
            <a:endParaRPr lang="fr-FR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7" y="1618466"/>
            <a:ext cx="7766024" cy="461729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7" y="2633678"/>
            <a:ext cx="7766024" cy="45242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45"/>
          <p:cNvSpPr txBox="1">
            <a:spLocks noGrp="1"/>
          </p:cNvSpPr>
          <p:nvPr>
            <p:ph type="title"/>
          </p:nvPr>
        </p:nvSpPr>
        <p:spPr>
          <a:xfrm>
            <a:off x="504225" y="141297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10.Les conteneurs et les textes</a:t>
            </a:r>
            <a:endParaRPr dirty="0"/>
          </a:p>
        </p:txBody>
      </p:sp>
      <p:grpSp>
        <p:nvGrpSpPr>
          <p:cNvPr id="1600" name="Google Shape;1600;p45"/>
          <p:cNvGrpSpPr/>
          <p:nvPr/>
        </p:nvGrpSpPr>
        <p:grpSpPr>
          <a:xfrm flipH="1">
            <a:off x="2056425" y="707605"/>
            <a:ext cx="4473900" cy="192184"/>
            <a:chOff x="2363547" y="1069304"/>
            <a:chExt cx="4473900" cy="192184"/>
          </a:xfrm>
        </p:grpSpPr>
        <p:grpSp>
          <p:nvGrpSpPr>
            <p:cNvPr id="1601" name="Google Shape;1601;p45"/>
            <p:cNvGrpSpPr/>
            <p:nvPr/>
          </p:nvGrpSpPr>
          <p:grpSpPr>
            <a:xfrm>
              <a:off x="2363547" y="1069304"/>
              <a:ext cx="4416900" cy="192184"/>
              <a:chOff x="2335097" y="1069304"/>
              <a:chExt cx="4416900" cy="192184"/>
            </a:xfrm>
          </p:grpSpPr>
          <p:sp>
            <p:nvSpPr>
              <p:cNvPr id="1602" name="Google Shape;1602;p45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03" name="Google Shape;1603;p45"/>
              <p:cNvCxnSpPr>
                <a:stCxn id="1604" idx="6"/>
                <a:endCxn id="1605" idx="2"/>
              </p:cNvCxnSpPr>
              <p:nvPr/>
            </p:nvCxnSpPr>
            <p:spPr>
              <a:xfrm rot="10800000">
                <a:off x="2392097" y="1164417"/>
                <a:ext cx="4359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605" name="Google Shape;1605;p45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4" name="Google Shape;1604;p45"/>
            <p:cNvSpPr/>
            <p:nvPr/>
          </p:nvSpPr>
          <p:spPr>
            <a:xfrm flipH="1">
              <a:off x="6780447" y="11359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2" name="Google Shape;1612;p45"/>
          <p:cNvSpPr/>
          <p:nvPr/>
        </p:nvSpPr>
        <p:spPr>
          <a:xfrm>
            <a:off x="4426425" y="2571750"/>
            <a:ext cx="117900" cy="1182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3" name="Google Shape;1613;p45"/>
          <p:cNvSpPr/>
          <p:nvPr/>
        </p:nvSpPr>
        <p:spPr>
          <a:xfrm>
            <a:off x="4461945" y="2607275"/>
            <a:ext cx="47100" cy="4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45"/>
          <p:cNvSpPr/>
          <p:nvPr/>
        </p:nvSpPr>
        <p:spPr>
          <a:xfrm>
            <a:off x="1434325" y="2341350"/>
            <a:ext cx="117900" cy="1182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5" name="Google Shape;1615;p45"/>
          <p:cNvSpPr/>
          <p:nvPr/>
        </p:nvSpPr>
        <p:spPr>
          <a:xfrm>
            <a:off x="1469845" y="2376875"/>
            <a:ext cx="47100" cy="4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8" name="Google Shape;1618;p45"/>
          <p:cNvGrpSpPr/>
          <p:nvPr/>
        </p:nvGrpSpPr>
        <p:grpSpPr>
          <a:xfrm>
            <a:off x="3252738" y="4043425"/>
            <a:ext cx="1040638" cy="901375"/>
            <a:chOff x="8457538" y="810363"/>
            <a:chExt cx="1040638" cy="901375"/>
          </a:xfrm>
        </p:grpSpPr>
        <p:grpSp>
          <p:nvGrpSpPr>
            <p:cNvPr id="1619" name="Google Shape;1619;p45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620" name="Google Shape;1620;p4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4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2" name="Google Shape;1622;p45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623" name="Google Shape;1623;p4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4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4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ZoneTexte 1"/>
          <p:cNvSpPr txBox="1"/>
          <p:nvPr/>
        </p:nvSpPr>
        <p:spPr>
          <a:xfrm>
            <a:off x="285750" y="1028700"/>
            <a:ext cx="83248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u="sng" dirty="0" smtClean="0">
                <a:solidFill>
                  <a:schemeClr val="bg1"/>
                </a:solidFill>
                <a:latin typeface="Montserrat" panose="020B0604020202020204" charset="0"/>
              </a:rPr>
              <a:t>Les conteneurs</a:t>
            </a:r>
            <a:r>
              <a:rPr lang="fr-FR" sz="1600" b="1" u="sng" dirty="0">
                <a:solidFill>
                  <a:schemeClr val="bg1"/>
                </a:solidFill>
                <a:latin typeface="Montserrat" panose="020B0604020202020204" charset="0"/>
              </a:rPr>
              <a:t>:</a:t>
            </a:r>
            <a:endParaRPr lang="fr-FR" sz="1600" b="1" u="sng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pPr marL="0" indent="0">
              <a:buNone/>
            </a:pPr>
            <a:r>
              <a:rPr lang="fr-FR" sz="1600" dirty="0" smtClean="0">
                <a:solidFill>
                  <a:schemeClr val="bg1"/>
                </a:solidFill>
                <a:latin typeface="Montserrat" panose="020B0604020202020204" charset="0"/>
              </a:rPr>
              <a:t>Ils </a:t>
            </a:r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servent à organiser la page et ajouter un </a:t>
            </a:r>
            <a:r>
              <a:rPr lang="fr-FR" sz="1600" dirty="0" err="1">
                <a:solidFill>
                  <a:schemeClr val="bg1"/>
                </a:solidFill>
                <a:latin typeface="Montserrat" panose="020B0604020202020204" charset="0"/>
              </a:rPr>
              <a:t>padding</a:t>
            </a:r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 automatique.(16px)</a:t>
            </a:r>
          </a:p>
          <a:p>
            <a:pPr marL="0" indent="0">
              <a:buNone/>
            </a:pPr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Ils sont utilisés pour les sections, titres, paragraphes.</a:t>
            </a:r>
          </a:p>
          <a:p>
            <a:pPr marL="0" indent="0">
              <a:buNone/>
            </a:pPr>
            <a:r>
              <a:rPr lang="fr-FR" sz="1600" b="1" u="sng" dirty="0" smtClean="0">
                <a:solidFill>
                  <a:schemeClr val="bg1"/>
                </a:solidFill>
                <a:latin typeface="Montserrat" panose="020B0604020202020204" charset="0"/>
              </a:rPr>
              <a:t>  Ex:</a:t>
            </a:r>
          </a:p>
          <a:p>
            <a:pPr marL="0" indent="0">
              <a:buNone/>
            </a:pPr>
            <a:endParaRPr lang="fr-FR" sz="1600" b="1" u="sng" dirty="0">
              <a:solidFill>
                <a:schemeClr val="bg1"/>
              </a:solidFill>
              <a:latin typeface="Montserrat" panose="020B0604020202020204" charset="0"/>
            </a:endParaRPr>
          </a:p>
          <a:p>
            <a:pPr marL="0" indent="0">
              <a:buNone/>
            </a:pPr>
            <a:endParaRPr lang="fr-FR" sz="1600" b="1" u="sng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pPr marL="0" indent="0">
              <a:buNone/>
            </a:pPr>
            <a:endParaRPr lang="fr-FR" sz="1600" b="1" u="sng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u="sng" dirty="0" smtClean="0">
                <a:solidFill>
                  <a:schemeClr val="bg1"/>
                </a:solidFill>
                <a:latin typeface="Montserrat" panose="020B0604020202020204" charset="0"/>
              </a:rPr>
              <a:t>Les textes:</a:t>
            </a:r>
          </a:p>
          <a:p>
            <a:endParaRPr lang="fr-FR" sz="1600" b="1" u="sng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pPr marL="0" indent="0">
              <a:buNone/>
            </a:pPr>
            <a:endParaRPr lang="fr-FR" sz="1600" b="1" u="sng" dirty="0">
              <a:solidFill>
                <a:schemeClr val="bg1"/>
              </a:solidFill>
              <a:latin typeface="Montserrat" panose="020B0604020202020204" charset="0"/>
            </a:endParaRPr>
          </a:p>
          <a:p>
            <a:pPr marL="0" indent="0">
              <a:buNone/>
            </a:pPr>
            <a:endParaRPr lang="fr-FR" sz="1600" b="1" u="sng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pPr marL="0" indent="0">
              <a:buNone/>
            </a:pPr>
            <a:endParaRPr lang="fr-FR" sz="1600" b="1" u="sng" dirty="0">
              <a:solidFill>
                <a:schemeClr val="bg1"/>
              </a:solidFill>
              <a:latin typeface="Montserrat" panose="020B0604020202020204" charset="0"/>
            </a:endParaRPr>
          </a:p>
          <a:p>
            <a:pPr marL="0" indent="0">
              <a:buNone/>
            </a:pPr>
            <a:endParaRPr lang="fr-FR" sz="1600" b="1" u="sng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pPr marL="0" indent="0">
              <a:buNone/>
            </a:pPr>
            <a:endParaRPr lang="fr-FR" sz="1600" b="1" u="sng" dirty="0">
              <a:solidFill>
                <a:schemeClr val="bg1"/>
              </a:solidFill>
              <a:latin typeface="Montserrat" panose="020B0604020202020204" charset="0"/>
            </a:endParaRPr>
          </a:p>
          <a:p>
            <a:pPr marL="0" indent="0">
              <a:buNone/>
            </a:pPr>
            <a:endParaRPr lang="fr-FR" sz="1600" b="1" u="sng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pPr marL="0" indent="0">
              <a:buNone/>
            </a:pPr>
            <a:endParaRPr lang="fr-FR" sz="1600" b="1" u="sng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dirty="0"/>
          </a:p>
        </p:txBody>
      </p:sp>
      <p:pic>
        <p:nvPicPr>
          <p:cNvPr id="82" name="Image 8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82" y="2117241"/>
            <a:ext cx="5124135" cy="483169"/>
          </a:xfrm>
          <a:prstGeom prst="rect">
            <a:avLst/>
          </a:prstGeom>
        </p:spPr>
      </p:pic>
      <p:sp>
        <p:nvSpPr>
          <p:cNvPr id="83" name="Rectangle 1"/>
          <p:cNvSpPr>
            <a:spLocks noChangeArrowheads="1"/>
          </p:cNvSpPr>
          <p:nvPr/>
        </p:nvSpPr>
        <p:spPr bwMode="auto">
          <a:xfrm>
            <a:off x="297650" y="2766832"/>
            <a:ext cx="699369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sz="1600" b="0" i="0" u="sng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Montserrat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B0604020202020204" charset="0"/>
              </a:rPr>
              <a:t>Taille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B0604020202020204" charset="0"/>
              </a:rPr>
              <a:t> : w3-small , w3-large , w3-xlarge , w3-xxlarge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B0604020202020204" charset="0"/>
              </a:rPr>
              <a:t>Style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B0604020202020204" charset="0"/>
              </a:rPr>
              <a:t> : w3-bold , w3-text-blue , w3-text-red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B0604020202020204" charset="0"/>
              </a:rPr>
              <a:t>Alignemen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B0604020202020204" charset="0"/>
              </a:rPr>
              <a:t>t : w3-center ,  w3-left ,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Montserrat" panose="020B0604020202020204" charset="0"/>
              </a:rPr>
              <a:t>w3-right</a:t>
            </a:r>
            <a:endParaRPr kumimoji="0" lang="fr-FR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Montserrat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Montserrat" panose="020B0604020202020204" charset="0"/>
            </a:endParaRPr>
          </a:p>
        </p:txBody>
      </p:sp>
      <p:pic>
        <p:nvPicPr>
          <p:cNvPr id="84" name="Image 8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09" y="4002188"/>
            <a:ext cx="7436255" cy="6258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0" name="Google Shape;1640;p47"/>
          <p:cNvGrpSpPr/>
          <p:nvPr/>
        </p:nvGrpSpPr>
        <p:grpSpPr>
          <a:xfrm flipH="1">
            <a:off x="2144550" y="1096457"/>
            <a:ext cx="4473900" cy="192185"/>
            <a:chOff x="2363547" y="1069304"/>
            <a:chExt cx="4473900" cy="192184"/>
          </a:xfrm>
        </p:grpSpPr>
        <p:grpSp>
          <p:nvGrpSpPr>
            <p:cNvPr id="1641" name="Google Shape;1641;p47"/>
            <p:cNvGrpSpPr/>
            <p:nvPr/>
          </p:nvGrpSpPr>
          <p:grpSpPr>
            <a:xfrm>
              <a:off x="2363547" y="1069304"/>
              <a:ext cx="4416900" cy="192184"/>
              <a:chOff x="2335097" y="1069304"/>
              <a:chExt cx="4416900" cy="192184"/>
            </a:xfrm>
          </p:grpSpPr>
          <p:sp>
            <p:nvSpPr>
              <p:cNvPr id="1642" name="Google Shape;1642;p47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43" name="Google Shape;1643;p47"/>
              <p:cNvCxnSpPr>
                <a:stCxn id="1644" idx="6"/>
                <a:endCxn id="1645" idx="2"/>
              </p:cNvCxnSpPr>
              <p:nvPr/>
            </p:nvCxnSpPr>
            <p:spPr>
              <a:xfrm rot="10800000">
                <a:off x="2392097" y="1164417"/>
                <a:ext cx="4359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645" name="Google Shape;1645;p47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44" name="Google Shape;1644;p47"/>
            <p:cNvSpPr/>
            <p:nvPr/>
          </p:nvSpPr>
          <p:spPr>
            <a:xfrm flipH="1">
              <a:off x="6780447" y="11359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72350" y="527714"/>
            <a:ext cx="5418300" cy="636300"/>
          </a:xfrm>
        </p:spPr>
        <p:txBody>
          <a:bodyPr/>
          <a:lstStyle/>
          <a:p>
            <a:r>
              <a:rPr lang="fr-FR" dirty="0" smtClean="0"/>
              <a:t>11.Les formulaires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333375" y="1316198"/>
            <a:ext cx="82296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  <a:latin typeface="Montserrat" panose="020B0604020202020204" charset="0"/>
              </a:rPr>
              <a:t>Pour </a:t>
            </a:r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créer </a:t>
            </a:r>
            <a:r>
              <a:rPr lang="fr-FR" sz="1600" b="1" dirty="0">
                <a:solidFill>
                  <a:schemeClr val="bg1"/>
                </a:solidFill>
                <a:latin typeface="Montserrat" panose="020B0604020202020204" charset="0"/>
              </a:rPr>
              <a:t>un formulaire ,on utilise</a:t>
            </a:r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:</a:t>
            </a:r>
          </a:p>
          <a:p>
            <a:endParaRPr lang="fr-FR" sz="16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6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600" b="1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6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r>
              <a:rPr lang="fr-FR" sz="1600" b="1" dirty="0" smtClean="0">
                <a:solidFill>
                  <a:schemeClr val="bg1"/>
                </a:solidFill>
                <a:latin typeface="Montserrat" panose="020B0604020202020204" charset="0"/>
              </a:rPr>
              <a:t>Cela donne ainsi une zone à remplir sur une page:</a:t>
            </a:r>
          </a:p>
          <a:p>
            <a:endParaRPr lang="fr-FR" sz="1600" b="1" dirty="0" smtClean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sz="1600" dirty="0">
              <a:solidFill>
                <a:schemeClr val="bg1"/>
              </a:solidFill>
              <a:latin typeface="Montserrat" panose="020B0604020202020204" charset="0"/>
            </a:endParaRPr>
          </a:p>
          <a:p>
            <a:endParaRPr lang="fr-FR" dirty="0"/>
          </a:p>
        </p:txBody>
      </p:sp>
      <p:pic>
        <p:nvPicPr>
          <p:cNvPr id="27" name="Imag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1686792"/>
            <a:ext cx="7567147" cy="55369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2944276"/>
            <a:ext cx="6191150" cy="110384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T Department Meeting by Slidesgo">
  <a:themeElements>
    <a:clrScheme name="Simple Light">
      <a:dk1>
        <a:srgbClr val="F6F6FF"/>
      </a:dk1>
      <a:lt1>
        <a:srgbClr val="4E5EA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E5E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256</Words>
  <Application>Microsoft Office PowerPoint</Application>
  <PresentationFormat>Affichage à l'écran (16:9)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Montserrat</vt:lpstr>
      <vt:lpstr>Montserrat Medium</vt:lpstr>
      <vt:lpstr>Jost</vt:lpstr>
      <vt:lpstr>Montserrat Black</vt:lpstr>
      <vt:lpstr>IT Department Meeting by Slidesgo</vt:lpstr>
      <vt:lpstr> W3.css</vt:lpstr>
      <vt:lpstr> 1. Introduction à W3.CSS </vt:lpstr>
      <vt:lpstr>2. Installation simple </vt:lpstr>
      <vt:lpstr>3. Les classes de couleurs</vt:lpstr>
      <vt:lpstr>4. Les boutons (w3-button)</vt:lpstr>
      <vt:lpstr>5. Alignement et centrage</vt:lpstr>
      <vt:lpstr>6. Le système de grille (layout responsive) </vt:lpstr>
      <vt:lpstr>7. Les cartes (w3-card)</vt:lpstr>
      <vt:lpstr>8. La barre de navigation (w3-bar)</vt:lpstr>
      <vt:lpstr>9. Les images : bordures et coins arrondis</vt:lpstr>
      <vt:lpstr>10.Les conteneurs et les textes</vt:lpstr>
      <vt:lpstr>11.Les formulaires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W3.css</dc:title>
  <cp:lastModifiedBy>LENOVO</cp:lastModifiedBy>
  <cp:revision>11</cp:revision>
  <dcterms:modified xsi:type="dcterms:W3CDTF">2025-11-26T17:36:23Z</dcterms:modified>
</cp:coreProperties>
</file>